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2" r:id="rId3"/>
    <p:sldId id="263" r:id="rId4"/>
    <p:sldId id="266" r:id="rId5"/>
    <p:sldId id="265" r:id="rId6"/>
    <p:sldId id="267" r:id="rId7"/>
    <p:sldId id="268" r:id="rId8"/>
    <p:sldId id="269" r:id="rId9"/>
    <p:sldId id="271" r:id="rId10"/>
    <p:sldId id="270" r:id="rId11"/>
    <p:sldId id="272" r:id="rId12"/>
    <p:sldId id="273" r:id="rId13"/>
    <p:sldId id="27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4" y="2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7A6348-9852-41CC-887D-D49E029E041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BDF49492-0171-4221-8CDE-7EE63657C2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3BF8F1C7-4C33-4A74-9763-DB3FC3DC0025}"/>
              </a:ext>
            </a:extLst>
          </p:cNvPr>
          <p:cNvSpPr>
            <a:spLocks noGrp="1"/>
          </p:cNvSpPr>
          <p:nvPr>
            <p:ph type="dt" sz="half" idx="10"/>
          </p:nvPr>
        </p:nvSpPr>
        <p:spPr/>
        <p:txBody>
          <a:bodyPr/>
          <a:lstStyle/>
          <a:p>
            <a:fld id="{574D1116-0530-4A50-AEF2-1EC0710A78E9}" type="datetimeFigureOut">
              <a:rPr lang="en-US" smtClean="0"/>
              <a:t>10/8/2026</a:t>
            </a:fld>
            <a:endParaRPr lang="en-US"/>
          </a:p>
        </p:txBody>
      </p:sp>
      <p:sp>
        <p:nvSpPr>
          <p:cNvPr id="5" name="Marcador de pie de página 4">
            <a:extLst>
              <a:ext uri="{FF2B5EF4-FFF2-40B4-BE49-F238E27FC236}">
                <a16:creationId xmlns:a16="http://schemas.microsoft.com/office/drawing/2014/main" id="{8D0FCE5D-93CD-4EB2-AA85-FBF06DEE7354}"/>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68D6EA07-56F0-49A1-897C-18E020AD6BF6}"/>
              </a:ext>
            </a:extLst>
          </p:cNvPr>
          <p:cNvSpPr>
            <a:spLocks noGrp="1"/>
          </p:cNvSpPr>
          <p:nvPr>
            <p:ph type="sldNum" sz="quarter" idx="12"/>
          </p:nvPr>
        </p:nvSpPr>
        <p:spPr/>
        <p:txBody>
          <a:bodyPr/>
          <a:lstStyle/>
          <a:p>
            <a:fld id="{F837F6DA-46BF-4571-8E4E-3865E53E60DA}" type="slidenum">
              <a:rPr lang="en-US" smtClean="0"/>
              <a:t>‹Nº›</a:t>
            </a:fld>
            <a:endParaRPr lang="en-US"/>
          </a:p>
        </p:txBody>
      </p:sp>
    </p:spTree>
    <p:extLst>
      <p:ext uri="{BB962C8B-B14F-4D97-AF65-F5344CB8AC3E}">
        <p14:creationId xmlns:p14="http://schemas.microsoft.com/office/powerpoint/2010/main" val="3244149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A19FE5-0433-45BA-B5ED-BAE4A5FD691E}"/>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FD95381C-1518-4967-9B14-BA947313C568}"/>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43DD36F8-64A8-4BFC-8DA1-3FC3058CF561}"/>
              </a:ext>
            </a:extLst>
          </p:cNvPr>
          <p:cNvSpPr>
            <a:spLocks noGrp="1"/>
          </p:cNvSpPr>
          <p:nvPr>
            <p:ph type="dt" sz="half" idx="10"/>
          </p:nvPr>
        </p:nvSpPr>
        <p:spPr/>
        <p:txBody>
          <a:bodyPr/>
          <a:lstStyle/>
          <a:p>
            <a:fld id="{574D1116-0530-4A50-AEF2-1EC0710A78E9}" type="datetimeFigureOut">
              <a:rPr lang="en-US" smtClean="0"/>
              <a:t>10/8/2026</a:t>
            </a:fld>
            <a:endParaRPr lang="en-US"/>
          </a:p>
        </p:txBody>
      </p:sp>
      <p:sp>
        <p:nvSpPr>
          <p:cNvPr id="5" name="Marcador de pie de página 4">
            <a:extLst>
              <a:ext uri="{FF2B5EF4-FFF2-40B4-BE49-F238E27FC236}">
                <a16:creationId xmlns:a16="http://schemas.microsoft.com/office/drawing/2014/main" id="{139CFE08-BF3C-4743-80F0-B879D1BE9016}"/>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A1B8A13-4F98-4540-8AAE-80704EAD7788}"/>
              </a:ext>
            </a:extLst>
          </p:cNvPr>
          <p:cNvSpPr>
            <a:spLocks noGrp="1"/>
          </p:cNvSpPr>
          <p:nvPr>
            <p:ph type="sldNum" sz="quarter" idx="12"/>
          </p:nvPr>
        </p:nvSpPr>
        <p:spPr/>
        <p:txBody>
          <a:bodyPr/>
          <a:lstStyle/>
          <a:p>
            <a:fld id="{F837F6DA-46BF-4571-8E4E-3865E53E60DA}" type="slidenum">
              <a:rPr lang="en-US" smtClean="0"/>
              <a:t>‹Nº›</a:t>
            </a:fld>
            <a:endParaRPr lang="en-US"/>
          </a:p>
        </p:txBody>
      </p:sp>
    </p:spTree>
    <p:extLst>
      <p:ext uri="{BB962C8B-B14F-4D97-AF65-F5344CB8AC3E}">
        <p14:creationId xmlns:p14="http://schemas.microsoft.com/office/powerpoint/2010/main" val="2452560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686B58-A216-475C-9ECC-9C40C6CA72F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1F06BBC1-B9E5-4249-B743-02E1EDB34E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D32FE8B5-4781-4A39-889C-0D4341510910}"/>
              </a:ext>
            </a:extLst>
          </p:cNvPr>
          <p:cNvSpPr>
            <a:spLocks noGrp="1"/>
          </p:cNvSpPr>
          <p:nvPr>
            <p:ph type="dt" sz="half" idx="10"/>
          </p:nvPr>
        </p:nvSpPr>
        <p:spPr/>
        <p:txBody>
          <a:bodyPr/>
          <a:lstStyle/>
          <a:p>
            <a:fld id="{574D1116-0530-4A50-AEF2-1EC0710A78E9}" type="datetimeFigureOut">
              <a:rPr lang="en-US" smtClean="0"/>
              <a:t>10/8/2026</a:t>
            </a:fld>
            <a:endParaRPr lang="en-US"/>
          </a:p>
        </p:txBody>
      </p:sp>
      <p:sp>
        <p:nvSpPr>
          <p:cNvPr id="5" name="Marcador de pie de página 4">
            <a:extLst>
              <a:ext uri="{FF2B5EF4-FFF2-40B4-BE49-F238E27FC236}">
                <a16:creationId xmlns:a16="http://schemas.microsoft.com/office/drawing/2014/main" id="{BA5300FE-362D-4252-B258-9F960776EFCD}"/>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6E73BB7D-24E4-49F8-806D-F955B487ADAB}"/>
              </a:ext>
            </a:extLst>
          </p:cNvPr>
          <p:cNvSpPr>
            <a:spLocks noGrp="1"/>
          </p:cNvSpPr>
          <p:nvPr>
            <p:ph type="sldNum" sz="quarter" idx="12"/>
          </p:nvPr>
        </p:nvSpPr>
        <p:spPr/>
        <p:txBody>
          <a:bodyPr/>
          <a:lstStyle/>
          <a:p>
            <a:fld id="{F837F6DA-46BF-4571-8E4E-3865E53E60DA}" type="slidenum">
              <a:rPr lang="en-US" smtClean="0"/>
              <a:t>‹Nº›</a:t>
            </a:fld>
            <a:endParaRPr lang="en-US"/>
          </a:p>
        </p:txBody>
      </p:sp>
    </p:spTree>
    <p:extLst>
      <p:ext uri="{BB962C8B-B14F-4D97-AF65-F5344CB8AC3E}">
        <p14:creationId xmlns:p14="http://schemas.microsoft.com/office/powerpoint/2010/main" val="2851447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8CD4EE-7187-406F-B12A-302607407744}"/>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6CA654B8-429A-441E-B8A7-9FE309590B94}"/>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19A3AA27-CE1E-4E2D-9BEA-3E4EA9632287}"/>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85B6F28D-E15B-4E54-83C1-ABA481ABE59D}"/>
              </a:ext>
            </a:extLst>
          </p:cNvPr>
          <p:cNvSpPr>
            <a:spLocks noGrp="1"/>
          </p:cNvSpPr>
          <p:nvPr>
            <p:ph type="dt" sz="half" idx="10"/>
          </p:nvPr>
        </p:nvSpPr>
        <p:spPr/>
        <p:txBody>
          <a:bodyPr/>
          <a:lstStyle/>
          <a:p>
            <a:fld id="{574D1116-0530-4A50-AEF2-1EC0710A78E9}" type="datetimeFigureOut">
              <a:rPr lang="en-US" smtClean="0"/>
              <a:t>10/8/2026</a:t>
            </a:fld>
            <a:endParaRPr lang="en-US"/>
          </a:p>
        </p:txBody>
      </p:sp>
      <p:sp>
        <p:nvSpPr>
          <p:cNvPr id="6" name="Marcador de pie de página 5">
            <a:extLst>
              <a:ext uri="{FF2B5EF4-FFF2-40B4-BE49-F238E27FC236}">
                <a16:creationId xmlns:a16="http://schemas.microsoft.com/office/drawing/2014/main" id="{12026C28-F03D-4C62-8097-6B6885E5B4D9}"/>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ACE021CC-508D-4F83-9341-D0AE0782AF34}"/>
              </a:ext>
            </a:extLst>
          </p:cNvPr>
          <p:cNvSpPr>
            <a:spLocks noGrp="1"/>
          </p:cNvSpPr>
          <p:nvPr>
            <p:ph type="sldNum" sz="quarter" idx="12"/>
          </p:nvPr>
        </p:nvSpPr>
        <p:spPr/>
        <p:txBody>
          <a:bodyPr/>
          <a:lstStyle/>
          <a:p>
            <a:fld id="{F837F6DA-46BF-4571-8E4E-3865E53E60DA}" type="slidenum">
              <a:rPr lang="en-US" smtClean="0"/>
              <a:t>‹Nº›</a:t>
            </a:fld>
            <a:endParaRPr lang="en-US"/>
          </a:p>
        </p:txBody>
      </p:sp>
    </p:spTree>
    <p:extLst>
      <p:ext uri="{BB962C8B-B14F-4D97-AF65-F5344CB8AC3E}">
        <p14:creationId xmlns:p14="http://schemas.microsoft.com/office/powerpoint/2010/main" val="1374330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ACB4B5-78A7-4142-9AE7-6EB6B14CF99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5629E2EA-8C10-46A5-8B6B-3D99BB2FF5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00A98986-FD11-418E-8C2E-5795CDBC34BB}"/>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8BB5AB38-6087-4F7B-BA48-88FBA30C9E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C875337D-C7C7-4A9E-807C-B8E2A1F21A0E}"/>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9304EEB4-9E52-4E2C-9E65-A84E241EA91B}"/>
              </a:ext>
            </a:extLst>
          </p:cNvPr>
          <p:cNvSpPr>
            <a:spLocks noGrp="1"/>
          </p:cNvSpPr>
          <p:nvPr>
            <p:ph type="dt" sz="half" idx="10"/>
          </p:nvPr>
        </p:nvSpPr>
        <p:spPr/>
        <p:txBody>
          <a:bodyPr/>
          <a:lstStyle/>
          <a:p>
            <a:fld id="{574D1116-0530-4A50-AEF2-1EC0710A78E9}" type="datetimeFigureOut">
              <a:rPr lang="en-US" smtClean="0"/>
              <a:t>10/8/2026</a:t>
            </a:fld>
            <a:endParaRPr lang="en-US"/>
          </a:p>
        </p:txBody>
      </p:sp>
      <p:sp>
        <p:nvSpPr>
          <p:cNvPr id="8" name="Marcador de pie de página 7">
            <a:extLst>
              <a:ext uri="{FF2B5EF4-FFF2-40B4-BE49-F238E27FC236}">
                <a16:creationId xmlns:a16="http://schemas.microsoft.com/office/drawing/2014/main" id="{4CF861DB-7DB8-4049-B635-1F092A7E6913}"/>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0ECF76AA-6029-42A3-B7A6-10C8507CCE69}"/>
              </a:ext>
            </a:extLst>
          </p:cNvPr>
          <p:cNvSpPr>
            <a:spLocks noGrp="1"/>
          </p:cNvSpPr>
          <p:nvPr>
            <p:ph type="sldNum" sz="quarter" idx="12"/>
          </p:nvPr>
        </p:nvSpPr>
        <p:spPr/>
        <p:txBody>
          <a:bodyPr/>
          <a:lstStyle/>
          <a:p>
            <a:fld id="{F837F6DA-46BF-4571-8E4E-3865E53E60DA}" type="slidenum">
              <a:rPr lang="en-US" smtClean="0"/>
              <a:t>‹Nº›</a:t>
            </a:fld>
            <a:endParaRPr lang="en-US"/>
          </a:p>
        </p:txBody>
      </p:sp>
    </p:spTree>
    <p:extLst>
      <p:ext uri="{BB962C8B-B14F-4D97-AF65-F5344CB8AC3E}">
        <p14:creationId xmlns:p14="http://schemas.microsoft.com/office/powerpoint/2010/main" val="2655826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C0BB2D-ABE1-4A27-A44F-C050C399F1A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92AC0418-B6B5-43E1-8B2B-16104D9FEB90}"/>
              </a:ext>
            </a:extLst>
          </p:cNvPr>
          <p:cNvSpPr>
            <a:spLocks noGrp="1"/>
          </p:cNvSpPr>
          <p:nvPr>
            <p:ph type="dt" sz="half" idx="10"/>
          </p:nvPr>
        </p:nvSpPr>
        <p:spPr/>
        <p:txBody>
          <a:bodyPr/>
          <a:lstStyle/>
          <a:p>
            <a:fld id="{574D1116-0530-4A50-AEF2-1EC0710A78E9}" type="datetimeFigureOut">
              <a:rPr lang="en-US" smtClean="0"/>
              <a:t>10/8/2026</a:t>
            </a:fld>
            <a:endParaRPr lang="en-US"/>
          </a:p>
        </p:txBody>
      </p:sp>
      <p:sp>
        <p:nvSpPr>
          <p:cNvPr id="4" name="Marcador de pie de página 3">
            <a:extLst>
              <a:ext uri="{FF2B5EF4-FFF2-40B4-BE49-F238E27FC236}">
                <a16:creationId xmlns:a16="http://schemas.microsoft.com/office/drawing/2014/main" id="{11838E5C-CF6C-4223-8590-DB9E978DD672}"/>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8EEC99DA-D562-48EF-8D17-3612CCD7BF25}"/>
              </a:ext>
            </a:extLst>
          </p:cNvPr>
          <p:cNvSpPr>
            <a:spLocks noGrp="1"/>
          </p:cNvSpPr>
          <p:nvPr>
            <p:ph type="sldNum" sz="quarter" idx="12"/>
          </p:nvPr>
        </p:nvSpPr>
        <p:spPr/>
        <p:txBody>
          <a:bodyPr/>
          <a:lstStyle/>
          <a:p>
            <a:fld id="{F837F6DA-46BF-4571-8E4E-3865E53E60DA}" type="slidenum">
              <a:rPr lang="en-US" smtClean="0"/>
              <a:t>‹Nº›</a:t>
            </a:fld>
            <a:endParaRPr lang="en-US"/>
          </a:p>
        </p:txBody>
      </p:sp>
    </p:spTree>
    <p:extLst>
      <p:ext uri="{BB962C8B-B14F-4D97-AF65-F5344CB8AC3E}">
        <p14:creationId xmlns:p14="http://schemas.microsoft.com/office/powerpoint/2010/main" val="175038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008FD8A-90E8-446D-B710-321250055ABB}"/>
              </a:ext>
            </a:extLst>
          </p:cNvPr>
          <p:cNvSpPr>
            <a:spLocks noGrp="1"/>
          </p:cNvSpPr>
          <p:nvPr>
            <p:ph type="dt" sz="half" idx="10"/>
          </p:nvPr>
        </p:nvSpPr>
        <p:spPr/>
        <p:txBody>
          <a:bodyPr/>
          <a:lstStyle/>
          <a:p>
            <a:fld id="{574D1116-0530-4A50-AEF2-1EC0710A78E9}" type="datetimeFigureOut">
              <a:rPr lang="en-US" smtClean="0"/>
              <a:t>10/8/2026</a:t>
            </a:fld>
            <a:endParaRPr lang="en-US"/>
          </a:p>
        </p:txBody>
      </p:sp>
      <p:sp>
        <p:nvSpPr>
          <p:cNvPr id="3" name="Marcador de pie de página 2">
            <a:extLst>
              <a:ext uri="{FF2B5EF4-FFF2-40B4-BE49-F238E27FC236}">
                <a16:creationId xmlns:a16="http://schemas.microsoft.com/office/drawing/2014/main" id="{E82B780B-55D8-4532-97C0-3AAA99DCB70B}"/>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6F64F41E-5373-4BA2-B938-F9B4C8424A82}"/>
              </a:ext>
            </a:extLst>
          </p:cNvPr>
          <p:cNvSpPr>
            <a:spLocks noGrp="1"/>
          </p:cNvSpPr>
          <p:nvPr>
            <p:ph type="sldNum" sz="quarter" idx="12"/>
          </p:nvPr>
        </p:nvSpPr>
        <p:spPr/>
        <p:txBody>
          <a:bodyPr/>
          <a:lstStyle/>
          <a:p>
            <a:fld id="{F837F6DA-46BF-4571-8E4E-3865E53E60DA}" type="slidenum">
              <a:rPr lang="en-US" smtClean="0"/>
              <a:t>‹Nº›</a:t>
            </a:fld>
            <a:endParaRPr lang="en-US"/>
          </a:p>
        </p:txBody>
      </p:sp>
    </p:spTree>
    <p:extLst>
      <p:ext uri="{BB962C8B-B14F-4D97-AF65-F5344CB8AC3E}">
        <p14:creationId xmlns:p14="http://schemas.microsoft.com/office/powerpoint/2010/main" val="2701838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F9293C-E902-4027-AB51-6BF63AA37E2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B22BEE0D-1A3F-4AA5-93BF-B9C4FC9EA8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7565C887-46A2-4847-B476-9FEA079A3C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E73D8997-B37D-4795-86B7-B4160DFC3C85}"/>
              </a:ext>
            </a:extLst>
          </p:cNvPr>
          <p:cNvSpPr>
            <a:spLocks noGrp="1"/>
          </p:cNvSpPr>
          <p:nvPr>
            <p:ph type="dt" sz="half" idx="10"/>
          </p:nvPr>
        </p:nvSpPr>
        <p:spPr/>
        <p:txBody>
          <a:bodyPr/>
          <a:lstStyle/>
          <a:p>
            <a:fld id="{574D1116-0530-4A50-AEF2-1EC0710A78E9}" type="datetimeFigureOut">
              <a:rPr lang="en-US" smtClean="0"/>
              <a:t>10/8/2026</a:t>
            </a:fld>
            <a:endParaRPr lang="en-US"/>
          </a:p>
        </p:txBody>
      </p:sp>
      <p:sp>
        <p:nvSpPr>
          <p:cNvPr id="6" name="Marcador de pie de página 5">
            <a:extLst>
              <a:ext uri="{FF2B5EF4-FFF2-40B4-BE49-F238E27FC236}">
                <a16:creationId xmlns:a16="http://schemas.microsoft.com/office/drawing/2014/main" id="{42834DEF-92AA-49AC-958E-4CD421E6FE95}"/>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B802DD50-C626-4F23-9D55-7C9D4EFB0920}"/>
              </a:ext>
            </a:extLst>
          </p:cNvPr>
          <p:cNvSpPr>
            <a:spLocks noGrp="1"/>
          </p:cNvSpPr>
          <p:nvPr>
            <p:ph type="sldNum" sz="quarter" idx="12"/>
          </p:nvPr>
        </p:nvSpPr>
        <p:spPr/>
        <p:txBody>
          <a:bodyPr/>
          <a:lstStyle/>
          <a:p>
            <a:fld id="{F837F6DA-46BF-4571-8E4E-3865E53E60DA}" type="slidenum">
              <a:rPr lang="en-US" smtClean="0"/>
              <a:t>‹Nº›</a:t>
            </a:fld>
            <a:endParaRPr lang="en-US"/>
          </a:p>
        </p:txBody>
      </p:sp>
    </p:spTree>
    <p:extLst>
      <p:ext uri="{BB962C8B-B14F-4D97-AF65-F5344CB8AC3E}">
        <p14:creationId xmlns:p14="http://schemas.microsoft.com/office/powerpoint/2010/main" val="2596589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52D509-C179-47DE-8C74-B8A19EBA01C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B51224EB-4155-4DCE-ABED-73A256DF09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4B6FBB4E-8057-406A-96FD-67A7A3C7A2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EBCCD323-4A4E-453C-8EFC-A59C5B453737}"/>
              </a:ext>
            </a:extLst>
          </p:cNvPr>
          <p:cNvSpPr>
            <a:spLocks noGrp="1"/>
          </p:cNvSpPr>
          <p:nvPr>
            <p:ph type="dt" sz="half" idx="10"/>
          </p:nvPr>
        </p:nvSpPr>
        <p:spPr/>
        <p:txBody>
          <a:bodyPr/>
          <a:lstStyle/>
          <a:p>
            <a:fld id="{574D1116-0530-4A50-AEF2-1EC0710A78E9}" type="datetimeFigureOut">
              <a:rPr lang="en-US" smtClean="0"/>
              <a:t>10/8/2026</a:t>
            </a:fld>
            <a:endParaRPr lang="en-US"/>
          </a:p>
        </p:txBody>
      </p:sp>
      <p:sp>
        <p:nvSpPr>
          <p:cNvPr id="6" name="Marcador de pie de página 5">
            <a:extLst>
              <a:ext uri="{FF2B5EF4-FFF2-40B4-BE49-F238E27FC236}">
                <a16:creationId xmlns:a16="http://schemas.microsoft.com/office/drawing/2014/main" id="{B46A855F-D965-4732-8ADC-2AA1BCA93EFF}"/>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8A778DFF-F338-4A3A-AA24-1C502DF688C2}"/>
              </a:ext>
            </a:extLst>
          </p:cNvPr>
          <p:cNvSpPr>
            <a:spLocks noGrp="1"/>
          </p:cNvSpPr>
          <p:nvPr>
            <p:ph type="sldNum" sz="quarter" idx="12"/>
          </p:nvPr>
        </p:nvSpPr>
        <p:spPr/>
        <p:txBody>
          <a:bodyPr/>
          <a:lstStyle/>
          <a:p>
            <a:fld id="{F837F6DA-46BF-4571-8E4E-3865E53E60DA}" type="slidenum">
              <a:rPr lang="en-US" smtClean="0"/>
              <a:t>‹Nº›</a:t>
            </a:fld>
            <a:endParaRPr lang="en-US"/>
          </a:p>
        </p:txBody>
      </p:sp>
    </p:spTree>
    <p:extLst>
      <p:ext uri="{BB962C8B-B14F-4D97-AF65-F5344CB8AC3E}">
        <p14:creationId xmlns:p14="http://schemas.microsoft.com/office/powerpoint/2010/main" val="289564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B48A4A-80D7-4403-8766-06BCA8C027EB}"/>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7A98DB45-1782-4000-8C83-13D4525BD98A}"/>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842A9B4-D423-4032-965D-BED4489FFFB2}"/>
              </a:ext>
            </a:extLst>
          </p:cNvPr>
          <p:cNvSpPr>
            <a:spLocks noGrp="1"/>
          </p:cNvSpPr>
          <p:nvPr>
            <p:ph type="dt" sz="half" idx="10"/>
          </p:nvPr>
        </p:nvSpPr>
        <p:spPr/>
        <p:txBody>
          <a:bodyPr/>
          <a:lstStyle/>
          <a:p>
            <a:fld id="{574D1116-0530-4A50-AEF2-1EC0710A78E9}" type="datetimeFigureOut">
              <a:rPr lang="en-US" smtClean="0"/>
              <a:t>10/8/2026</a:t>
            </a:fld>
            <a:endParaRPr lang="en-US"/>
          </a:p>
        </p:txBody>
      </p:sp>
      <p:sp>
        <p:nvSpPr>
          <p:cNvPr id="5" name="Marcador de pie de página 4">
            <a:extLst>
              <a:ext uri="{FF2B5EF4-FFF2-40B4-BE49-F238E27FC236}">
                <a16:creationId xmlns:a16="http://schemas.microsoft.com/office/drawing/2014/main" id="{2472FF7E-8926-4D26-A7CB-1A56F7B5D138}"/>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5358DE68-D986-4D95-B032-C6E8FB503553}"/>
              </a:ext>
            </a:extLst>
          </p:cNvPr>
          <p:cNvSpPr>
            <a:spLocks noGrp="1"/>
          </p:cNvSpPr>
          <p:nvPr>
            <p:ph type="sldNum" sz="quarter" idx="12"/>
          </p:nvPr>
        </p:nvSpPr>
        <p:spPr/>
        <p:txBody>
          <a:bodyPr/>
          <a:lstStyle/>
          <a:p>
            <a:fld id="{F837F6DA-46BF-4571-8E4E-3865E53E60DA}" type="slidenum">
              <a:rPr lang="en-US" smtClean="0"/>
              <a:t>‹Nº›</a:t>
            </a:fld>
            <a:endParaRPr lang="en-US"/>
          </a:p>
        </p:txBody>
      </p:sp>
    </p:spTree>
    <p:extLst>
      <p:ext uri="{BB962C8B-B14F-4D97-AF65-F5344CB8AC3E}">
        <p14:creationId xmlns:p14="http://schemas.microsoft.com/office/powerpoint/2010/main" val="2116773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96D193E-5FDC-43B3-972E-BA4F9683119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BAC265BE-6E7C-431A-8022-4520872F6326}"/>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63A84D6-6291-420D-8728-59F11E3127B8}"/>
              </a:ext>
            </a:extLst>
          </p:cNvPr>
          <p:cNvSpPr>
            <a:spLocks noGrp="1"/>
          </p:cNvSpPr>
          <p:nvPr>
            <p:ph type="dt" sz="half" idx="10"/>
          </p:nvPr>
        </p:nvSpPr>
        <p:spPr/>
        <p:txBody>
          <a:bodyPr/>
          <a:lstStyle/>
          <a:p>
            <a:fld id="{574D1116-0530-4A50-AEF2-1EC0710A78E9}" type="datetimeFigureOut">
              <a:rPr lang="en-US" smtClean="0"/>
              <a:t>10/8/2026</a:t>
            </a:fld>
            <a:endParaRPr lang="en-US"/>
          </a:p>
        </p:txBody>
      </p:sp>
      <p:sp>
        <p:nvSpPr>
          <p:cNvPr id="5" name="Marcador de pie de página 4">
            <a:extLst>
              <a:ext uri="{FF2B5EF4-FFF2-40B4-BE49-F238E27FC236}">
                <a16:creationId xmlns:a16="http://schemas.microsoft.com/office/drawing/2014/main" id="{6B94DF88-F6F9-4A17-B584-EBEB8492D855}"/>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3B88F04-9656-4630-8111-1CABC5E65DA6}"/>
              </a:ext>
            </a:extLst>
          </p:cNvPr>
          <p:cNvSpPr>
            <a:spLocks noGrp="1"/>
          </p:cNvSpPr>
          <p:nvPr>
            <p:ph type="sldNum" sz="quarter" idx="12"/>
          </p:nvPr>
        </p:nvSpPr>
        <p:spPr/>
        <p:txBody>
          <a:bodyPr/>
          <a:lstStyle/>
          <a:p>
            <a:fld id="{F837F6DA-46BF-4571-8E4E-3865E53E60DA}" type="slidenum">
              <a:rPr lang="en-US" smtClean="0"/>
              <a:t>‹Nº›</a:t>
            </a:fld>
            <a:endParaRPr lang="en-US"/>
          </a:p>
        </p:txBody>
      </p:sp>
    </p:spTree>
    <p:extLst>
      <p:ext uri="{BB962C8B-B14F-4D97-AF65-F5344CB8AC3E}">
        <p14:creationId xmlns:p14="http://schemas.microsoft.com/office/powerpoint/2010/main" val="282619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B3FF02E-5045-46B9-9FB4-E1C8C4937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D62A7256-4BBB-4AA1-9FB1-778A9B2B70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92106597-530E-4904-AFDB-111841A144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4D1116-0530-4A50-AEF2-1EC0710A78E9}" type="datetimeFigureOut">
              <a:rPr lang="en-US" smtClean="0"/>
              <a:t>10/8/2026</a:t>
            </a:fld>
            <a:endParaRPr lang="en-US"/>
          </a:p>
        </p:txBody>
      </p:sp>
      <p:sp>
        <p:nvSpPr>
          <p:cNvPr id="5" name="Marcador de pie de página 4">
            <a:extLst>
              <a:ext uri="{FF2B5EF4-FFF2-40B4-BE49-F238E27FC236}">
                <a16:creationId xmlns:a16="http://schemas.microsoft.com/office/drawing/2014/main" id="{14D5C72F-4872-4CB5-AF09-CF005A28C5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0308074A-56ED-462F-9250-39066F3B74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37F6DA-46BF-4571-8E4E-3865E53E60DA}" type="slidenum">
              <a:rPr lang="en-US" smtClean="0"/>
              <a:t>‹Nº›</a:t>
            </a:fld>
            <a:endParaRPr lang="en-US"/>
          </a:p>
        </p:txBody>
      </p:sp>
    </p:spTree>
    <p:extLst>
      <p:ext uri="{BB962C8B-B14F-4D97-AF65-F5344CB8AC3E}">
        <p14:creationId xmlns:p14="http://schemas.microsoft.com/office/powerpoint/2010/main" val="1750402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EB55A-9E1F-8D29-0DCB-C47BC4F389B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D959DC9C-D120-BB42-C76E-04D768E9B672}"/>
              </a:ext>
            </a:extLst>
          </p:cNvPr>
          <p:cNvPicPr>
            <a:picLocks noChangeAspect="1"/>
          </p:cNvPicPr>
          <p:nvPr/>
        </p:nvPicPr>
        <p:blipFill>
          <a:blip r:embed="rId2"/>
          <a:stretch>
            <a:fillRect/>
          </a:stretch>
        </p:blipFill>
        <p:spPr>
          <a:xfrm>
            <a:off x="-1" y="0"/>
            <a:ext cx="12192001" cy="6883502"/>
          </a:xfrm>
          <a:prstGeom prst="rect">
            <a:avLst/>
          </a:prstGeom>
        </p:spPr>
      </p:pic>
      <p:sp>
        <p:nvSpPr>
          <p:cNvPr id="10" name="CuadroTexto 9">
            <a:extLst>
              <a:ext uri="{FF2B5EF4-FFF2-40B4-BE49-F238E27FC236}">
                <a16:creationId xmlns:a16="http://schemas.microsoft.com/office/drawing/2014/main" id="{FEAF6B11-374C-1FAD-7A54-8CF665967FFB}"/>
              </a:ext>
            </a:extLst>
          </p:cNvPr>
          <p:cNvSpPr txBox="1"/>
          <p:nvPr/>
        </p:nvSpPr>
        <p:spPr>
          <a:xfrm>
            <a:off x="1624007" y="1551303"/>
            <a:ext cx="8438293" cy="5094985"/>
          </a:xfrm>
          <a:prstGeom prst="rect">
            <a:avLst/>
          </a:prstGeom>
          <a:noFill/>
        </p:spPr>
        <p:txBody>
          <a:bodyPr wrap="square">
            <a:spAutoFit/>
          </a:bodyPr>
          <a:lstStyle/>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TECNOLOGICO NACIONAL DE MEXICO</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INSTITUTO TECNOLOGICO DE FRONTERA COMALAPA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CARRERA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INGENIERIA EN SISTEMAS COMPUTACIONALES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MATERIA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SIMULACIÓN</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TRABAJO</a:t>
            </a:r>
          </a:p>
          <a:p>
            <a:pPr algn="ctr">
              <a:lnSpc>
                <a:spcPct val="107000"/>
              </a:lnSpc>
              <a:spcAft>
                <a:spcPts val="800"/>
              </a:spcAft>
              <a:buNone/>
            </a:pPr>
            <a:r>
              <a:rPr lang="es-MX" sz="1400" dirty="0">
                <a:latin typeface="Calibri" panose="020F0502020204030204" pitchFamily="34" charset="0"/>
                <a:ea typeface="Calibri" panose="020F0502020204030204" pitchFamily="34" charset="0"/>
                <a:cs typeface="Times New Roman" panose="02020603050405020304" pitchFamily="18" charset="0"/>
              </a:rPr>
              <a:t>ACTIVIDAD 2.2 REPORTE DE PRACTICA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CATEDRATICO</a:t>
            </a:r>
          </a:p>
          <a:p>
            <a:pPr algn="ctr">
              <a:lnSpc>
                <a:spcPct val="107000"/>
              </a:lnSpc>
              <a:spcAft>
                <a:spcPts val="800"/>
              </a:spcAft>
            </a:pPr>
            <a:r>
              <a:rPr lang="es-ES" altLang="es-MX" sz="1400" dirty="0">
                <a:latin typeface="Calibri" panose="020F0502020204030204" pitchFamily="34" charset="0"/>
                <a:ea typeface="Calibri" panose="020F0502020204030204" pitchFamily="34" charset="0"/>
                <a:cs typeface="Calibri" panose="020F0502020204030204" pitchFamily="34" charset="0"/>
              </a:rPr>
              <a:t>ING. FRANCISCO JAVIER MINGO VELAZQUEZ </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ESTUDIANTE </a:t>
            </a:r>
          </a:p>
          <a:p>
            <a:pPr lvl="0" algn="ctr" defTabSz="914400" eaLnBrk="0" fontAlgn="base" hangingPunct="0">
              <a:spcBef>
                <a:spcPct val="0"/>
              </a:spcBef>
              <a:spcAft>
                <a:spcPct val="0"/>
              </a:spcAft>
            </a:pPr>
            <a:r>
              <a:rPr lang="es-MX" altLang="es-MX" sz="1400" dirty="0">
                <a:latin typeface="Calibri" panose="020F0502020204030204" pitchFamily="34" charset="0"/>
                <a:ea typeface="Calibri" panose="020F0502020204030204" pitchFamily="34" charset="0"/>
                <a:cs typeface="Calibri" panose="020F0502020204030204" pitchFamily="34" charset="0"/>
              </a:rPr>
              <a:t>AMILCAR AEJANDRO CORONA ESCOBAR - 2412600074</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SEMESTRE </a:t>
            </a:r>
            <a:r>
              <a:rPr lang="es-MX" sz="1100" b="1" dirty="0">
                <a:effectLst/>
                <a:latin typeface="Calibri" panose="020F0502020204030204" pitchFamily="34" charset="0"/>
                <a:ea typeface="Calibri" panose="020F0502020204030204" pitchFamily="34" charset="0"/>
                <a:cs typeface="Times New Roman" panose="02020603050405020304" pitchFamily="18" charset="0"/>
              </a:rPr>
              <a:t>:</a:t>
            </a:r>
            <a:r>
              <a:rPr lang="es-MX" sz="1100" b="1" dirty="0">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buNone/>
            </a:pPr>
            <a:r>
              <a:rPr lang="es-MX" sz="1100" b="1" dirty="0">
                <a:effectLst/>
                <a:latin typeface="Calibri" panose="020F0502020204030204" pitchFamily="34" charset="0"/>
                <a:ea typeface="Calibri" panose="020F0502020204030204" pitchFamily="34" charset="0"/>
                <a:cs typeface="Times New Roman" panose="02020603050405020304" pitchFamily="18" charset="0"/>
              </a:rPr>
              <a:t>5</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400" b="1" dirty="0">
                <a:effectLst/>
                <a:latin typeface="Calibri" panose="020F0502020204030204" pitchFamily="34" charset="0"/>
                <a:ea typeface="Calibri" panose="020F0502020204030204" pitchFamily="34" charset="0"/>
                <a:cs typeface="Times New Roman" panose="02020603050405020304" pitchFamily="18" charset="0"/>
              </a:rPr>
              <a:t>FRONTERA COMALAPA FECHA DE ENTREGA:</a:t>
            </a:r>
            <a:r>
              <a:rPr lang="es-MX" sz="1100" b="1" dirty="0">
                <a:effectLst/>
                <a:latin typeface="Calibri" panose="020F0502020204030204" pitchFamily="34" charset="0"/>
                <a:ea typeface="Calibri" panose="020F0502020204030204" pitchFamily="34" charset="0"/>
                <a:cs typeface="Times New Roman" panose="02020603050405020304" pitchFamily="18" charset="0"/>
              </a:rPr>
              <a:t> </a:t>
            </a:r>
            <a:r>
              <a:rPr lang="es-ES" sz="1100" b="1" dirty="0">
                <a:effectLst/>
                <a:latin typeface="Arial" panose="020B0604020202020204" pitchFamily="34" charset="0"/>
                <a:ea typeface="Calibri" panose="020F0502020204030204" pitchFamily="34" charset="0"/>
                <a:cs typeface="Arial" panose="020B0604020202020204" pitchFamily="34" charset="0"/>
              </a:rPr>
              <a:t>14 DE </a:t>
            </a:r>
            <a:r>
              <a:rPr lang="es-ES" sz="1100" b="1" dirty="0">
                <a:latin typeface="Arial" panose="020B0604020202020204" pitchFamily="34" charset="0"/>
                <a:ea typeface="Calibri" panose="020F0502020204030204" pitchFamily="34" charset="0"/>
                <a:cs typeface="Arial" panose="020B0604020202020204" pitchFamily="34" charset="0"/>
              </a:rPr>
              <a:t>SEPTIEMBRE</a:t>
            </a:r>
            <a:r>
              <a:rPr lang="es-ES" sz="1100" b="1" dirty="0">
                <a:effectLst/>
                <a:latin typeface="Arial" panose="020B0604020202020204" pitchFamily="34" charset="0"/>
                <a:ea typeface="Calibri" panose="020F0502020204030204" pitchFamily="34" charset="0"/>
                <a:cs typeface="Arial" panose="020B0604020202020204" pitchFamily="34" charset="0"/>
              </a:rPr>
              <a:t> DEL 2026</a:t>
            </a:r>
            <a:endParaRPr lang="es-MX" altLang="es-MX" sz="1100" dirty="0">
              <a:latin typeface="Arial" panose="020B0604020202020204" pitchFamily="34" charset="0"/>
              <a:cs typeface="Arial" panose="020B0604020202020204" pitchFamily="34" charset="0"/>
            </a:endParaRPr>
          </a:p>
          <a:p>
            <a:pPr algn="ctr">
              <a:lnSpc>
                <a:spcPct val="107000"/>
              </a:lnSpc>
              <a:spcAft>
                <a:spcPts val="800"/>
              </a:spcAft>
              <a:buNone/>
            </a:pP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Imagen 11" descr="Secretaría de Educación Pública | Secretaría de Educación ...">
            <a:extLst>
              <a:ext uri="{FF2B5EF4-FFF2-40B4-BE49-F238E27FC236}">
                <a16:creationId xmlns:a16="http://schemas.microsoft.com/office/drawing/2014/main" id="{EFECA14D-D8FE-EF74-7C06-2DF34B28693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692" b="89868" l="2338" r="96104">
                        <a14:foregroundMark x1="12208" y1="37885" x2="48312" y2="32599"/>
                        <a14:foregroundMark x1="48312" y1="32599" x2="29610" y2="48018"/>
                        <a14:foregroundMark x1="29610" y1="48018" x2="56364" y2="33480"/>
                        <a14:foregroundMark x1="56364" y1="33480" x2="83896" y2="40529"/>
                        <a14:foregroundMark x1="83896" y1="40529" x2="62078" y2="33480"/>
                        <a14:foregroundMark x1="62078" y1="33480" x2="40779" y2="49339"/>
                        <a14:foregroundMark x1="40779" y1="49339" x2="18961" y2="51542"/>
                        <a14:foregroundMark x1="18961" y1="51542" x2="73506" y2="18943"/>
                        <a14:foregroundMark x1="73506" y1="18943" x2="52987" y2="56828"/>
                        <a14:foregroundMark x1="52987" y1="56828" x2="78701" y2="30837"/>
                        <a14:foregroundMark x1="78701" y1="30837" x2="77662" y2="65198"/>
                        <a14:foregroundMark x1="8571" y1="57269" x2="4675" y2="58590"/>
                        <a14:foregroundMark x1="7532" y1="44493" x2="30390" y2="64317"/>
                        <a14:foregroundMark x1="30390" y1="64317" x2="25195" y2="78855"/>
                        <a14:foregroundMark x1="16883" y1="77093" x2="19740" y2="83700"/>
                        <a14:foregroundMark x1="11948" y1="72687" x2="12727" y2="77093"/>
                        <a14:foregroundMark x1="7532" y1="63877" x2="7532" y2="65198"/>
                        <a14:foregroundMark x1="7532" y1="65198" x2="7532" y2="65198"/>
                        <a14:foregroundMark x1="7532" y1="65198" x2="7532" y2="65198"/>
                        <a14:foregroundMark x1="7532" y1="65198" x2="7532" y2="65198"/>
                        <a14:foregroundMark x1="7532" y1="65198" x2="7532" y2="65198"/>
                        <a14:foregroundMark x1="7532" y1="65198" x2="2597" y2="55507"/>
                        <a14:foregroundMark x1="6753" y1="43612" x2="8052" y2="37885"/>
                        <a14:foregroundMark x1="12727" y1="30396" x2="10130" y2="37004"/>
                        <a14:foregroundMark x1="16364" y1="37004" x2="23117" y2="30396"/>
                        <a14:foregroundMark x1="37662" y1="64758" x2="44156" y2="65198"/>
                        <a14:foregroundMark x1="58961" y1="65198" x2="70390" y2="65198"/>
                        <a14:foregroundMark x1="58961" y1="62115" x2="48052" y2="65198"/>
                        <a14:foregroundMark x1="73247" y1="67841" x2="80519" y2="66079"/>
                        <a14:foregroundMark x1="83377" y1="54626" x2="94026" y2="52863"/>
                        <a14:foregroundMark x1="94545" y1="46256" x2="82338" y2="51101"/>
                        <a14:foregroundMark x1="82597" y1="40529" x2="94545" y2="47137"/>
                        <a14:foregroundMark x1="94805" y1="41410" x2="96104" y2="56388"/>
                        <a14:foregroundMark x1="93247" y1="41410" x2="91429" y2="43172"/>
                        <a14:foregroundMark x1="93506" y1="43172" x2="84675" y2="39648"/>
                        <a14:foregroundMark x1="88831" y1="39648" x2="89351" y2="36123"/>
                        <a14:foregroundMark x1="94805" y1="36123" x2="91169" y2="44493"/>
                        <a14:foregroundMark x1="95584" y1="51101" x2="95584" y2="40529"/>
                        <a14:foregroundMark x1="91169" y1="30396" x2="82597" y2="40529"/>
                      </a14:backgroundRemoval>
                    </a14:imgEffect>
                  </a14:imgLayer>
                </a14:imgProps>
              </a:ext>
              <a:ext uri="{28A0092B-C50C-407E-A947-70E740481C1C}">
                <a14:useLocalDpi xmlns:a14="http://schemas.microsoft.com/office/drawing/2010/main" val="0"/>
              </a:ext>
            </a:extLst>
          </a:blip>
          <a:srcRect/>
          <a:stretch>
            <a:fillRect/>
          </a:stretch>
        </p:blipFill>
        <p:spPr bwMode="auto">
          <a:xfrm>
            <a:off x="891096" y="519736"/>
            <a:ext cx="2667391" cy="1352480"/>
          </a:xfrm>
          <a:prstGeom prst="rect">
            <a:avLst/>
          </a:prstGeom>
          <a:noFill/>
          <a:ln>
            <a:noFill/>
          </a:ln>
        </p:spPr>
      </p:pic>
      <p:pic>
        <p:nvPicPr>
          <p:cNvPr id="14" name="Imagen 13" descr="Logos Oficiales – Tecnológico Nacional de México">
            <a:extLst>
              <a:ext uri="{FF2B5EF4-FFF2-40B4-BE49-F238E27FC236}">
                <a16:creationId xmlns:a16="http://schemas.microsoft.com/office/drawing/2014/main" id="{95213785-F39B-A169-C99D-1172B99500C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32440" y="618059"/>
            <a:ext cx="2055088" cy="970177"/>
          </a:xfrm>
          <a:prstGeom prst="rect">
            <a:avLst/>
          </a:prstGeom>
          <a:noFill/>
          <a:ln>
            <a:noFill/>
          </a:ln>
        </p:spPr>
      </p:pic>
      <p:pic>
        <p:nvPicPr>
          <p:cNvPr id="16" name="Imagen 15" descr="TecNM | Tecnológico Nacional de México">
            <a:extLst>
              <a:ext uri="{FF2B5EF4-FFF2-40B4-BE49-F238E27FC236}">
                <a16:creationId xmlns:a16="http://schemas.microsoft.com/office/drawing/2014/main" id="{EB3A2178-9F41-48BC-3E38-CA8D606F8C26}"/>
              </a:ext>
            </a:extLst>
          </p:cNvPr>
          <p:cNvPicPr>
            <a:picLocks noChangeAspect="1"/>
          </p:cNvPicPr>
          <p:nvPr/>
        </p:nvPicPr>
        <p:blipFill>
          <a:blip r:embed="rId6">
            <a:extLst>
              <a:ext uri="{28A0092B-C50C-407E-A947-70E740481C1C}">
                <a14:useLocalDpi xmlns:a14="http://schemas.microsoft.com/office/drawing/2010/main" val="0"/>
              </a:ext>
            </a:extLst>
          </a:blip>
          <a:srcRect b="9635"/>
          <a:stretch>
            <a:fillRect/>
          </a:stretch>
        </p:blipFill>
        <p:spPr bwMode="auto">
          <a:xfrm>
            <a:off x="9085797" y="735091"/>
            <a:ext cx="1953006" cy="1127293"/>
          </a:xfrm>
          <a:prstGeom prst="rect">
            <a:avLst/>
          </a:prstGeom>
          <a:noFill/>
          <a:ln>
            <a:noFill/>
          </a:ln>
        </p:spPr>
      </p:pic>
    </p:spTree>
    <p:extLst>
      <p:ext uri="{BB962C8B-B14F-4D97-AF65-F5344CB8AC3E}">
        <p14:creationId xmlns:p14="http://schemas.microsoft.com/office/powerpoint/2010/main" val="2835419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INTRODUCCIÓN</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fontScale="92500" lnSpcReduction="20000"/>
          </a:bodyPr>
          <a:lstStyle/>
          <a:p>
            <a:pPr algn="just"/>
            <a:r>
              <a:rPr lang="es-MX" dirty="0"/>
              <a:t>La simulación de eventos discretos y estocásticos permite modelar sistemas complejos donde intervienen variables aleatorias y dinámicas impredecibles. En esta práctica se desarrolló un software de simulación gráfica en Java utilizando </a:t>
            </a:r>
            <a:r>
              <a:rPr lang="es-MX" b="1" dirty="0" err="1"/>
              <a:t>JavaFX</a:t>
            </a:r>
            <a:r>
              <a:rPr lang="es-MX" dirty="0"/>
              <a:t>, enfocado en modelar el impacto de un meteorito sobre una población urbana y su posterior proceso de evacuación.</a:t>
            </a:r>
          </a:p>
          <a:p>
            <a:pPr algn="just"/>
            <a:r>
              <a:rPr lang="es-MX" dirty="0"/>
              <a:t>El núcleo del sistema emplea técnicas del </a:t>
            </a:r>
            <a:r>
              <a:rPr lang="es-MX" b="1" dirty="0"/>
              <a:t>Método de Monte Carlo</a:t>
            </a:r>
            <a:r>
              <a:rPr lang="es-MX" dirty="0"/>
              <a:t>, generando coordenadas, velocidades, tiempos de reacción y fragmentaciones de manera aleatoria. Además, el software integra un mecanismo de persistencia conectado a una base de datos en </a:t>
            </a:r>
            <a:r>
              <a:rPr lang="es-MX" b="1" dirty="0"/>
              <a:t>PostgreSQL</a:t>
            </a:r>
            <a:r>
              <a:rPr lang="es-MX" dirty="0"/>
              <a:t>, permitiendo registrar de manera automática los resultados de cada ejecución para su posterior análisis estadístico. Este reporte detalla la estructura del código fuente, la lógica matemática implementada y la integración con el </a:t>
            </a:r>
            <a:r>
              <a:rPr lang="es-MX" dirty="0" err="1"/>
              <a:t>dataset</a:t>
            </a:r>
            <a:r>
              <a:rPr lang="es-MX" dirty="0"/>
              <a:t>.</a:t>
            </a:r>
          </a:p>
          <a:p>
            <a:endParaRPr lang="en-US" dirty="0"/>
          </a:p>
        </p:txBody>
      </p:sp>
    </p:spTree>
    <p:extLst>
      <p:ext uri="{BB962C8B-B14F-4D97-AF65-F5344CB8AC3E}">
        <p14:creationId xmlns:p14="http://schemas.microsoft.com/office/powerpoint/2010/main" val="2785487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JUSTIFICACIÓN</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fontScale="92500" lnSpcReduction="10000"/>
          </a:bodyPr>
          <a:lstStyle/>
          <a:p>
            <a:pPr algn="just"/>
            <a:r>
              <a:rPr lang="es-MX" dirty="0"/>
              <a:t>Para la materia de Simulación, es fundamental trascender la teoría y llevar los conceptos de variables aleatorias y modelado estocástico a una aplicación funcional y tangible. El desarrollo de este programa justifica su importancia porque permite observar en tiempo real cómo interactúan múltiples agentes autónomos (ciudadanos) bajo situaciones de crisis y estrés ambiental (onda expansiva de un meteorito).</a:t>
            </a:r>
          </a:p>
          <a:p>
            <a:pPr algn="just"/>
            <a:r>
              <a:rPr lang="es-MX" dirty="0"/>
              <a:t>Asimismo, integrar una base de datos relacional responde a la necesidad real de almacenar métricas de desempeño (como porcentajes de evacuación y tiempos de colapso) para auditorías o análisis masivos de datos. Documentar esta práctica refuerza mis competencias en programación concurrente, interfaces gráficas orientadas a eventos y conectividad con sistemas gestores de bases de datos.</a:t>
            </a:r>
          </a:p>
        </p:txBody>
      </p:sp>
    </p:spTree>
    <p:extLst>
      <p:ext uri="{BB962C8B-B14F-4D97-AF65-F5344CB8AC3E}">
        <p14:creationId xmlns:p14="http://schemas.microsoft.com/office/powerpoint/2010/main" val="4268157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108995" y="405607"/>
            <a:ext cx="10515600" cy="1325563"/>
          </a:xfrm>
        </p:spPr>
        <p:txBody>
          <a:bodyPr/>
          <a:lstStyle/>
          <a:p>
            <a:pPr algn="ctr"/>
            <a:r>
              <a:rPr lang="en-US" b="1" dirty="0" err="1"/>
              <a:t>Fundamentos</a:t>
            </a:r>
            <a:r>
              <a:rPr lang="en-US" b="1" dirty="0"/>
              <a:t> del </a:t>
            </a:r>
            <a:r>
              <a:rPr lang="en-US" b="1" dirty="0" err="1"/>
              <a:t>Método</a:t>
            </a:r>
            <a:r>
              <a:rPr lang="en-US" b="1" dirty="0"/>
              <a:t> de </a:t>
            </a:r>
            <a:br>
              <a:rPr lang="en-US" b="1" dirty="0"/>
            </a:br>
            <a:r>
              <a:rPr lang="en-US" b="1" dirty="0"/>
              <a:t>Monte Carlo </a:t>
            </a:r>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a:xfrm>
            <a:off x="960120" y="1731170"/>
            <a:ext cx="3977640" cy="2007712"/>
          </a:xfrm>
        </p:spPr>
        <p:txBody>
          <a:bodyPr>
            <a:normAutofit lnSpcReduction="10000"/>
          </a:bodyPr>
          <a:lstStyle/>
          <a:p>
            <a:pPr marL="0" indent="0" algn="just">
              <a:buNone/>
            </a:pPr>
            <a:r>
              <a:rPr lang="es-MX" dirty="0"/>
              <a:t>Utiliza métodos </a:t>
            </a:r>
            <a:r>
              <a:rPr lang="es-MX" dirty="0" err="1"/>
              <a:t>numéros</a:t>
            </a:r>
            <a:r>
              <a:rPr lang="es-MX" dirty="0"/>
              <a:t> pseudoaleatorios para resolver problemas donde intervienen </a:t>
            </a:r>
            <a:r>
              <a:rPr lang="es-MX" dirty="0" err="1"/>
              <a:t>multiples</a:t>
            </a:r>
            <a:r>
              <a:rPr lang="es-MX" dirty="0"/>
              <a:t> variables impredecibles.</a:t>
            </a:r>
            <a:endParaRPr lang="en-US" dirty="0"/>
          </a:p>
        </p:txBody>
      </p:sp>
      <p:sp>
        <p:nvSpPr>
          <p:cNvPr id="6" name="Marcador de contenido 4">
            <a:extLst>
              <a:ext uri="{FF2B5EF4-FFF2-40B4-BE49-F238E27FC236}">
                <a16:creationId xmlns:a16="http://schemas.microsoft.com/office/drawing/2014/main" id="{7C5E899B-9F9C-4503-B922-55D8E17AF3DC}"/>
              </a:ext>
            </a:extLst>
          </p:cNvPr>
          <p:cNvSpPr txBox="1">
            <a:spLocks/>
          </p:cNvSpPr>
          <p:nvPr/>
        </p:nvSpPr>
        <p:spPr>
          <a:xfrm>
            <a:off x="960120" y="4132947"/>
            <a:ext cx="3977640" cy="20481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s-MX" dirty="0"/>
              <a:t>El sistema genera de forma estocástica las coordenadas del blanco, velocidades y tiempos de reacción de la población.</a:t>
            </a:r>
            <a:endParaRPr lang="en-US" dirty="0"/>
          </a:p>
        </p:txBody>
      </p:sp>
      <p:pic>
        <p:nvPicPr>
          <p:cNvPr id="10" name="Imagen 9">
            <a:extLst>
              <a:ext uri="{FF2B5EF4-FFF2-40B4-BE49-F238E27FC236}">
                <a16:creationId xmlns:a16="http://schemas.microsoft.com/office/drawing/2014/main" id="{C855DC68-46D4-44F6-9D97-C0DEAC921C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8230" y="0"/>
            <a:ext cx="1925359" cy="6858000"/>
          </a:xfrm>
          <a:prstGeom prst="rect">
            <a:avLst/>
          </a:prstGeom>
        </p:spPr>
      </p:pic>
    </p:spTree>
    <p:extLst>
      <p:ext uri="{BB962C8B-B14F-4D97-AF65-F5344CB8AC3E}">
        <p14:creationId xmlns:p14="http://schemas.microsoft.com/office/powerpoint/2010/main" val="3937186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6" name="Imagen 5" descr="Imagen de Story Pin">
            <a:extLst>
              <a:ext uri="{FF2B5EF4-FFF2-40B4-BE49-F238E27FC236}">
                <a16:creationId xmlns:a16="http://schemas.microsoft.com/office/drawing/2014/main" id="{06693128-5F0C-4CD7-8C33-0A7DB5118C97}"/>
              </a:ext>
            </a:extLst>
          </p:cNvPr>
          <p:cNvPicPr>
            <a:picLocks noChangeAspect="1"/>
          </p:cNvPicPr>
          <p:nvPr/>
        </p:nvPicPr>
        <p:blipFill>
          <a:blip r:embed="rId2"/>
          <a:stretch>
            <a:fillRect/>
          </a:stretch>
        </p:blipFill>
        <p:spPr>
          <a:xfrm>
            <a:off x="0" y="-213360"/>
            <a:ext cx="12191999" cy="6858000"/>
          </a:xfrm>
          <a:prstGeom prst="rect">
            <a:avLst/>
          </a:prstGeom>
        </p:spPr>
      </p:pic>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7" name="Título 6">
            <a:extLst>
              <a:ext uri="{FF2B5EF4-FFF2-40B4-BE49-F238E27FC236}">
                <a16:creationId xmlns:a16="http://schemas.microsoft.com/office/drawing/2014/main" id="{C650DFD5-4D3B-4CD0-BE00-165A3B4E2A04}"/>
              </a:ext>
            </a:extLst>
          </p:cNvPr>
          <p:cNvSpPr>
            <a:spLocks noGrp="1"/>
          </p:cNvSpPr>
          <p:nvPr>
            <p:ph type="title"/>
          </p:nvPr>
        </p:nvSpPr>
        <p:spPr/>
        <p:txBody>
          <a:bodyPr/>
          <a:lstStyle/>
          <a:p>
            <a:pPr algn="ctr"/>
            <a:r>
              <a:rPr lang="en-US" b="1" dirty="0" err="1"/>
              <a:t>Arquitectura</a:t>
            </a:r>
            <a:r>
              <a:rPr lang="en-US" b="1" dirty="0"/>
              <a:t> del Sistema (</a:t>
            </a:r>
            <a:r>
              <a:rPr lang="en-US" b="1" dirty="0" err="1"/>
              <a:t>Módulos</a:t>
            </a:r>
            <a:r>
              <a:rPr lang="en-US" b="1" dirty="0"/>
              <a:t> Java) </a:t>
            </a:r>
          </a:p>
        </p:txBody>
      </p:sp>
      <p:sp>
        <p:nvSpPr>
          <p:cNvPr id="8" name="Marcador de contenido 7">
            <a:extLst>
              <a:ext uri="{FF2B5EF4-FFF2-40B4-BE49-F238E27FC236}">
                <a16:creationId xmlns:a16="http://schemas.microsoft.com/office/drawing/2014/main" id="{AE72315A-5A99-4C22-97E7-8D966B86FD7A}"/>
              </a:ext>
            </a:extLst>
          </p:cNvPr>
          <p:cNvSpPr>
            <a:spLocks noGrp="1"/>
          </p:cNvSpPr>
          <p:nvPr>
            <p:ph idx="1"/>
          </p:nvPr>
        </p:nvSpPr>
        <p:spPr/>
        <p:txBody>
          <a:bodyPr/>
          <a:lstStyle/>
          <a:p>
            <a:pPr algn="just"/>
            <a:r>
              <a:rPr lang="es-MX" dirty="0"/>
              <a:t>El proyecto se divide en paquetes limpios (Controladores, Entidades).</a:t>
            </a:r>
          </a:p>
          <a:p>
            <a:pPr algn="just"/>
            <a:r>
              <a:rPr lang="es-MX" dirty="0"/>
              <a:t>Se configuran dependencias estrictas para gráficos y base de datos. </a:t>
            </a:r>
            <a:endParaRPr lang="en-US" dirty="0"/>
          </a:p>
        </p:txBody>
      </p:sp>
      <p:pic>
        <p:nvPicPr>
          <p:cNvPr id="9" name="Imagen 8">
            <a:extLst>
              <a:ext uri="{FF2B5EF4-FFF2-40B4-BE49-F238E27FC236}">
                <a16:creationId xmlns:a16="http://schemas.microsoft.com/office/drawing/2014/main" id="{69ED93F6-6AA5-4ADA-A48C-A1D20EF1DF4D}"/>
              </a:ext>
            </a:extLst>
          </p:cNvPr>
          <p:cNvPicPr>
            <a:picLocks noChangeAspect="1"/>
          </p:cNvPicPr>
          <p:nvPr/>
        </p:nvPicPr>
        <p:blipFill>
          <a:blip r:embed="rId3"/>
          <a:stretch>
            <a:fillRect/>
          </a:stretch>
        </p:blipFill>
        <p:spPr>
          <a:xfrm>
            <a:off x="2732801" y="2946991"/>
            <a:ext cx="6726393" cy="3804329"/>
          </a:xfrm>
          <a:prstGeom prst="rect">
            <a:avLst/>
          </a:prstGeom>
        </p:spPr>
      </p:pic>
    </p:spTree>
    <p:extLst>
      <p:ext uri="{BB962C8B-B14F-4D97-AF65-F5344CB8AC3E}">
        <p14:creationId xmlns:p14="http://schemas.microsoft.com/office/powerpoint/2010/main" val="2690905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200" y="96145"/>
            <a:ext cx="10515600" cy="1325563"/>
          </a:xfrm>
        </p:spPr>
        <p:txBody>
          <a:bodyPr/>
          <a:lstStyle/>
          <a:p>
            <a:pPr algn="ctr"/>
            <a:r>
              <a:rPr lang="es-MX" b="1" dirty="0"/>
              <a:t>Dinámica de Comportamiento Urbano (`Ciudadano`)</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a:xfrm>
            <a:off x="229568" y="1500824"/>
            <a:ext cx="4324110" cy="2639029"/>
          </a:xfrm>
        </p:spPr>
        <p:txBody>
          <a:bodyPr/>
          <a:lstStyle/>
          <a:p>
            <a:pPr algn="just"/>
            <a:r>
              <a:rPr lang="es-MX" dirty="0"/>
              <a:t>Los ciudadanos operan bajo estados: ESPERANDO, HUYENDO, EVACUANDO Y DESTRUIDO.</a:t>
            </a:r>
          </a:p>
          <a:p>
            <a:pPr algn="just"/>
            <a:r>
              <a:rPr lang="es-MX" dirty="0"/>
              <a:t>Evalúan su distancia en la onda. </a:t>
            </a:r>
            <a:endParaRPr lang="en-US" dirty="0"/>
          </a:p>
        </p:txBody>
      </p:sp>
      <p:sp>
        <p:nvSpPr>
          <p:cNvPr id="7" name="Marcador de contenido 4">
            <a:extLst>
              <a:ext uri="{FF2B5EF4-FFF2-40B4-BE49-F238E27FC236}">
                <a16:creationId xmlns:a16="http://schemas.microsoft.com/office/drawing/2014/main" id="{F4339F83-2933-452E-A3F1-98D4C7307981}"/>
              </a:ext>
            </a:extLst>
          </p:cNvPr>
          <p:cNvSpPr txBox="1">
            <a:spLocks/>
          </p:cNvSpPr>
          <p:nvPr/>
        </p:nvSpPr>
        <p:spPr>
          <a:xfrm>
            <a:off x="7218258" y="1517853"/>
            <a:ext cx="4324110" cy="26390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MX" dirty="0"/>
              <a:t>Implementé un algoritmo estocástico de densidad que reduce la velocidad al haber alta aglomeración de vecinos. </a:t>
            </a:r>
          </a:p>
        </p:txBody>
      </p:sp>
      <p:pic>
        <p:nvPicPr>
          <p:cNvPr id="2" name="Imagen 1">
            <a:extLst>
              <a:ext uri="{FF2B5EF4-FFF2-40B4-BE49-F238E27FC236}">
                <a16:creationId xmlns:a16="http://schemas.microsoft.com/office/drawing/2014/main" id="{87BE74F4-1AD9-4DAA-B616-CEAD81BECB63}"/>
              </a:ext>
            </a:extLst>
          </p:cNvPr>
          <p:cNvPicPr>
            <a:picLocks noChangeAspect="1"/>
          </p:cNvPicPr>
          <p:nvPr/>
        </p:nvPicPr>
        <p:blipFill>
          <a:blip r:embed="rId3"/>
          <a:stretch>
            <a:fillRect/>
          </a:stretch>
        </p:blipFill>
        <p:spPr>
          <a:xfrm>
            <a:off x="3290102" y="3606137"/>
            <a:ext cx="5611792" cy="3155718"/>
          </a:xfrm>
          <a:prstGeom prst="rect">
            <a:avLst/>
          </a:prstGeom>
        </p:spPr>
      </p:pic>
    </p:spTree>
    <p:extLst>
      <p:ext uri="{BB962C8B-B14F-4D97-AF65-F5344CB8AC3E}">
        <p14:creationId xmlns:p14="http://schemas.microsoft.com/office/powerpoint/2010/main" val="2078307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16540" y="-116541"/>
            <a:ext cx="12399183" cy="6974541"/>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200" y="96145"/>
            <a:ext cx="10515600" cy="1325563"/>
          </a:xfrm>
        </p:spPr>
        <p:txBody>
          <a:bodyPr/>
          <a:lstStyle/>
          <a:p>
            <a:pPr algn="ctr"/>
            <a:r>
              <a:rPr lang="es-MX" b="1" dirty="0"/>
              <a:t>Trayectoria del Objeto y Daño Secundario (Meteorito)</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a:xfrm>
            <a:off x="6154272" y="2282421"/>
            <a:ext cx="5809129" cy="2639029"/>
          </a:xfrm>
        </p:spPr>
        <p:txBody>
          <a:bodyPr>
            <a:normAutofit lnSpcReduction="10000"/>
          </a:bodyPr>
          <a:lstStyle/>
          <a:p>
            <a:pPr marL="0" indent="0" algn="just">
              <a:buNone/>
            </a:pPr>
            <a:r>
              <a:rPr lang="es-MX" dirty="0"/>
              <a:t>El objeto calcula su vector de desplazamiento hacia el objetivo urbano. Al impactar, activa una rutina estocástica basada en números aleatorios para generar fragmentos secundarios que multiplican los puntos de daño en la ciudad.</a:t>
            </a:r>
            <a:endParaRPr lang="en-US" dirty="0"/>
          </a:p>
        </p:txBody>
      </p:sp>
      <p:pic>
        <p:nvPicPr>
          <p:cNvPr id="2" name="Imagen 1">
            <a:extLst>
              <a:ext uri="{FF2B5EF4-FFF2-40B4-BE49-F238E27FC236}">
                <a16:creationId xmlns:a16="http://schemas.microsoft.com/office/drawing/2014/main" id="{87BE74F4-1AD9-4DAA-B616-CEAD81BECB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270" y="1884147"/>
            <a:ext cx="6096000" cy="3435579"/>
          </a:xfrm>
          <a:prstGeom prst="rect">
            <a:avLst/>
          </a:prstGeom>
        </p:spPr>
      </p:pic>
    </p:spTree>
    <p:extLst>
      <p:ext uri="{BB962C8B-B14F-4D97-AF65-F5344CB8AC3E}">
        <p14:creationId xmlns:p14="http://schemas.microsoft.com/office/powerpoint/2010/main" val="3209177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200" y="96145"/>
            <a:ext cx="10515600" cy="1325563"/>
          </a:xfrm>
        </p:spPr>
        <p:txBody>
          <a:bodyPr/>
          <a:lstStyle/>
          <a:p>
            <a:pPr algn="ctr"/>
            <a:r>
              <a:rPr lang="es-MX" b="1" dirty="0"/>
              <a:t>Persistencia y Registro en PostgreSQL</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a:xfrm>
            <a:off x="95097" y="1281494"/>
            <a:ext cx="4324110" cy="2639029"/>
          </a:xfrm>
        </p:spPr>
        <p:txBody>
          <a:bodyPr>
            <a:normAutofit fontScale="77500" lnSpcReduction="20000"/>
          </a:bodyPr>
          <a:lstStyle/>
          <a:p>
            <a:pPr algn="just"/>
            <a:r>
              <a:rPr lang="es-MX" dirty="0"/>
              <a:t>Al concluir la simulación, el sistema recopila automáticamente métricas clave como la población total, evacuados, caídos y el tiempo transcurrido.</a:t>
            </a:r>
          </a:p>
          <a:p>
            <a:pPr algn="just"/>
            <a:r>
              <a:rPr lang="es-MX" dirty="0"/>
              <a:t>Se ejecuta un volcado de datos automático en segundo plano mediante un conector JDBC hacia la base de datos.</a:t>
            </a:r>
            <a:endParaRPr lang="en-US" dirty="0"/>
          </a:p>
        </p:txBody>
      </p:sp>
      <p:sp>
        <p:nvSpPr>
          <p:cNvPr id="7" name="Marcador de contenido 4">
            <a:extLst>
              <a:ext uri="{FF2B5EF4-FFF2-40B4-BE49-F238E27FC236}">
                <a16:creationId xmlns:a16="http://schemas.microsoft.com/office/drawing/2014/main" id="{F4339F83-2933-452E-A3F1-98D4C7307981}"/>
              </a:ext>
            </a:extLst>
          </p:cNvPr>
          <p:cNvSpPr txBox="1">
            <a:spLocks/>
          </p:cNvSpPr>
          <p:nvPr/>
        </p:nvSpPr>
        <p:spPr>
          <a:xfrm>
            <a:off x="189928" y="4069747"/>
            <a:ext cx="4324110" cy="263902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MX" dirty="0"/>
              <a:t>Permite almacenar un historial persistente en tablas relacionales.</a:t>
            </a:r>
          </a:p>
          <a:p>
            <a:pPr algn="just"/>
            <a:r>
              <a:rPr lang="es-MX" dirty="0"/>
              <a:t>Facilita la auditoría técnica, el análisis estadístico posterior y la minería de datos de múltiples corridas del simulador.</a:t>
            </a:r>
          </a:p>
        </p:txBody>
      </p:sp>
      <p:pic>
        <p:nvPicPr>
          <p:cNvPr id="2" name="Imagen 1">
            <a:extLst>
              <a:ext uri="{FF2B5EF4-FFF2-40B4-BE49-F238E27FC236}">
                <a16:creationId xmlns:a16="http://schemas.microsoft.com/office/drawing/2014/main" id="{87BE74F4-1AD9-4DAA-B616-CEAD81BECB63}"/>
              </a:ext>
            </a:extLst>
          </p:cNvPr>
          <p:cNvPicPr>
            <a:picLocks noChangeAspect="1"/>
          </p:cNvPicPr>
          <p:nvPr/>
        </p:nvPicPr>
        <p:blipFill>
          <a:blip r:embed="rId3"/>
          <a:stretch>
            <a:fillRect/>
          </a:stretch>
        </p:blipFill>
        <p:spPr>
          <a:xfrm>
            <a:off x="4966899" y="2118479"/>
            <a:ext cx="6939852" cy="3902535"/>
          </a:xfrm>
          <a:prstGeom prst="rect">
            <a:avLst/>
          </a:prstGeom>
        </p:spPr>
      </p:pic>
    </p:spTree>
    <p:extLst>
      <p:ext uri="{BB962C8B-B14F-4D97-AF65-F5344CB8AC3E}">
        <p14:creationId xmlns:p14="http://schemas.microsoft.com/office/powerpoint/2010/main" val="4175372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200" y="96145"/>
            <a:ext cx="10515600" cy="1325563"/>
          </a:xfrm>
        </p:spPr>
        <p:txBody>
          <a:bodyPr/>
          <a:lstStyle/>
          <a:p>
            <a:pPr algn="ctr"/>
            <a:r>
              <a:rPr lang="es-MX" b="1" dirty="0"/>
              <a:t>Estructura de la Vista Principal FXML</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a:xfrm>
            <a:off x="229568" y="1196024"/>
            <a:ext cx="4324110" cy="2639029"/>
          </a:xfrm>
        </p:spPr>
        <p:txBody>
          <a:bodyPr>
            <a:normAutofit fontScale="92500" lnSpcReduction="20000"/>
          </a:bodyPr>
          <a:lstStyle/>
          <a:p>
            <a:pPr algn="just"/>
            <a:r>
              <a:rPr lang="es-MX" dirty="0"/>
              <a:t>La interfaz utiliza un contenedor </a:t>
            </a:r>
            <a:r>
              <a:rPr lang="es-MX" dirty="0" err="1"/>
              <a:t>BorderPane</a:t>
            </a:r>
            <a:r>
              <a:rPr lang="es-MX" dirty="0"/>
              <a:t> estilizado con un fondo oscuro elegante. La </a:t>
            </a:r>
            <a:r>
              <a:rPr lang="es-MX" dirty="0" err="1"/>
              <a:t>seccion</a:t>
            </a:r>
            <a:r>
              <a:rPr lang="es-MX" dirty="0"/>
              <a:t> superior cuenta con un encabezado de </a:t>
            </a:r>
            <a:r>
              <a:rPr lang="es-MX" dirty="0" err="1"/>
              <a:t>identificacion</a:t>
            </a:r>
            <a:r>
              <a:rPr lang="es-MX" dirty="0"/>
              <a:t> y el panel izquierdo agrupa los campos de entrada de </a:t>
            </a:r>
            <a:r>
              <a:rPr lang="es-MX" dirty="0" err="1"/>
              <a:t>parametros</a:t>
            </a:r>
            <a:r>
              <a:rPr lang="es-MX" dirty="0"/>
              <a:t>.</a:t>
            </a:r>
            <a:endParaRPr lang="en-US" dirty="0"/>
          </a:p>
        </p:txBody>
      </p:sp>
      <p:sp>
        <p:nvSpPr>
          <p:cNvPr id="7" name="Marcador de contenido 4">
            <a:extLst>
              <a:ext uri="{FF2B5EF4-FFF2-40B4-BE49-F238E27FC236}">
                <a16:creationId xmlns:a16="http://schemas.microsoft.com/office/drawing/2014/main" id="{F4339F83-2933-452E-A3F1-98D4C7307981}"/>
              </a:ext>
            </a:extLst>
          </p:cNvPr>
          <p:cNvSpPr txBox="1">
            <a:spLocks/>
          </p:cNvSpPr>
          <p:nvPr/>
        </p:nvSpPr>
        <p:spPr>
          <a:xfrm>
            <a:off x="387152" y="4027012"/>
            <a:ext cx="4324110" cy="263902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MX" dirty="0"/>
              <a:t>Se integra un componente </a:t>
            </a:r>
            <a:r>
              <a:rPr lang="es-MX" dirty="0" err="1"/>
              <a:t>Canvas</a:t>
            </a:r>
            <a:r>
              <a:rPr lang="es-MX" dirty="0"/>
              <a:t> central de alta fidelidad donde se renderizan las autopistas urbanas y la </a:t>
            </a:r>
            <a:r>
              <a:rPr lang="es-MX" dirty="0" err="1"/>
              <a:t>simulacion</a:t>
            </a:r>
            <a:r>
              <a:rPr lang="es-MX" dirty="0"/>
              <a:t> en tiempo real. Todo el diseño esta enlazado directamente al controlador principal.</a:t>
            </a:r>
          </a:p>
        </p:txBody>
      </p:sp>
      <p:pic>
        <p:nvPicPr>
          <p:cNvPr id="2" name="Imagen 1">
            <a:extLst>
              <a:ext uri="{FF2B5EF4-FFF2-40B4-BE49-F238E27FC236}">
                <a16:creationId xmlns:a16="http://schemas.microsoft.com/office/drawing/2014/main" id="{87BE74F4-1AD9-4DAA-B616-CEAD81BECB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76143" y="1842611"/>
            <a:ext cx="7086289" cy="3984883"/>
          </a:xfrm>
          <a:prstGeom prst="rect">
            <a:avLst/>
          </a:prstGeom>
        </p:spPr>
      </p:pic>
    </p:spTree>
    <p:extLst>
      <p:ext uri="{BB962C8B-B14F-4D97-AF65-F5344CB8AC3E}">
        <p14:creationId xmlns:p14="http://schemas.microsoft.com/office/powerpoint/2010/main" val="1061274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766482" y="-199690"/>
            <a:ext cx="10515600" cy="1325563"/>
          </a:xfrm>
        </p:spPr>
        <p:txBody>
          <a:bodyPr/>
          <a:lstStyle/>
          <a:p>
            <a:pPr algn="ctr"/>
            <a:r>
              <a:rPr lang="es-MX" b="1" dirty="0"/>
              <a:t>Resultado Final: Interfaz Gráfica en Ejecución</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a:xfrm>
            <a:off x="7510808" y="1159398"/>
            <a:ext cx="4324110" cy="2639029"/>
          </a:xfrm>
        </p:spPr>
        <p:txBody>
          <a:bodyPr>
            <a:normAutofit fontScale="85000" lnSpcReduction="20000"/>
          </a:bodyPr>
          <a:lstStyle/>
          <a:p>
            <a:pPr algn="just"/>
            <a:r>
              <a:rPr lang="es-MX" dirty="0"/>
              <a:t>La interfaz fue construida utilizando un contenedor principal </a:t>
            </a:r>
            <a:r>
              <a:rPr lang="es-MX" dirty="0" err="1"/>
              <a:t>BorderPane</a:t>
            </a:r>
            <a:r>
              <a:rPr lang="es-MX" dirty="0"/>
              <a:t> optimizado para el monitoreo en tiempo real. El panel lateral izquierdo alberga los controles de entrada para modificar los </a:t>
            </a:r>
            <a:r>
              <a:rPr lang="es-MX" dirty="0" err="1"/>
              <a:t>parametros</a:t>
            </a:r>
            <a:r>
              <a:rPr lang="es-MX" dirty="0"/>
              <a:t> de la </a:t>
            </a:r>
            <a:r>
              <a:rPr lang="es-MX" dirty="0" err="1"/>
              <a:t>simulacion</a:t>
            </a:r>
            <a:r>
              <a:rPr lang="es-MX" dirty="0"/>
              <a:t> de forma </a:t>
            </a:r>
            <a:r>
              <a:rPr lang="es-MX" dirty="0" err="1"/>
              <a:t>dinamica</a:t>
            </a:r>
            <a:r>
              <a:rPr lang="es-MX" dirty="0"/>
              <a:t>.</a:t>
            </a:r>
            <a:endParaRPr lang="en-US" dirty="0"/>
          </a:p>
        </p:txBody>
      </p:sp>
      <p:sp>
        <p:nvSpPr>
          <p:cNvPr id="7" name="Marcador de contenido 4">
            <a:extLst>
              <a:ext uri="{FF2B5EF4-FFF2-40B4-BE49-F238E27FC236}">
                <a16:creationId xmlns:a16="http://schemas.microsoft.com/office/drawing/2014/main" id="{F4339F83-2933-452E-A3F1-98D4C7307981}"/>
              </a:ext>
            </a:extLst>
          </p:cNvPr>
          <p:cNvSpPr txBox="1">
            <a:spLocks/>
          </p:cNvSpPr>
          <p:nvPr/>
        </p:nvSpPr>
        <p:spPr>
          <a:xfrm>
            <a:off x="7655858" y="4138015"/>
            <a:ext cx="4179059" cy="244208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MX" dirty="0"/>
              <a:t>El centro cuenta con un componente </a:t>
            </a:r>
            <a:r>
              <a:rPr lang="es-MX" dirty="0" err="1"/>
              <a:t>Canvas</a:t>
            </a:r>
            <a:r>
              <a:rPr lang="es-MX" dirty="0"/>
              <a:t> de alta fidelidad visual donde se renderizan las autopistas y el impacto. Permite visualizar de forma grafica y fluida la </a:t>
            </a:r>
            <a:r>
              <a:rPr lang="es-MX" dirty="0" err="1"/>
              <a:t>evolucion</a:t>
            </a:r>
            <a:r>
              <a:rPr lang="es-MX" dirty="0"/>
              <a:t> completa de la emergencia urbana cuadro por cuadro.</a:t>
            </a:r>
          </a:p>
        </p:txBody>
      </p:sp>
      <p:pic>
        <p:nvPicPr>
          <p:cNvPr id="2" name="Imagen 1">
            <a:extLst>
              <a:ext uri="{FF2B5EF4-FFF2-40B4-BE49-F238E27FC236}">
                <a16:creationId xmlns:a16="http://schemas.microsoft.com/office/drawing/2014/main" id="{87BE74F4-1AD9-4DAA-B616-CEAD81BECB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8305" y="1969556"/>
            <a:ext cx="6955421" cy="3911291"/>
          </a:xfrm>
          <a:prstGeom prst="rect">
            <a:avLst/>
          </a:prstGeom>
        </p:spPr>
      </p:pic>
    </p:spTree>
    <p:extLst>
      <p:ext uri="{BB962C8B-B14F-4D97-AF65-F5344CB8AC3E}">
        <p14:creationId xmlns:p14="http://schemas.microsoft.com/office/powerpoint/2010/main" val="3026314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JUSTIFICACIÓN</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fontScale="92500" lnSpcReduction="10000"/>
          </a:bodyPr>
          <a:lstStyle/>
          <a:p>
            <a:pPr algn="just"/>
            <a:r>
              <a:rPr lang="es-MX" dirty="0"/>
              <a:t>Para la materia de Simulación, es fundamental trascender la teoría y llevar los conceptos de variables aleatorias y modelado estocástico a una aplicación funcional y tangible. El desarrollo de este programa justifica su importancia porque permite observar en tiempo real cómo interactúan múltiples agentes autónomos (ciudadanos) bajo situaciones de crisis y estrés ambiental (onda expansiva de un meteorito).</a:t>
            </a:r>
          </a:p>
          <a:p>
            <a:pPr algn="just"/>
            <a:r>
              <a:rPr lang="es-MX" dirty="0"/>
              <a:t>Asimismo, integrar una base de datos relacional responde a la necesidad real de almacenar métricas de desempeño (como porcentajes de evacuación y tiempos de colapso) para auditorías o análisis masivos de datos. Documentar esta práctica refuerza mis competencias en programación concurrente, interfaces gráficas orientadas a eventos y conectividad con sistemas gestores de bases de datos.</a:t>
            </a:r>
          </a:p>
        </p:txBody>
      </p:sp>
    </p:spTree>
    <p:extLst>
      <p:ext uri="{BB962C8B-B14F-4D97-AF65-F5344CB8AC3E}">
        <p14:creationId xmlns:p14="http://schemas.microsoft.com/office/powerpoint/2010/main" val="1099613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FUENTES DE INFORMACIÓN</a:t>
            </a:r>
            <a:br>
              <a:rPr lang="en-US" b="1" dirty="0"/>
            </a:b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a:bodyPr>
          <a:lstStyle/>
          <a:p>
            <a:pPr algn="just"/>
            <a:r>
              <a:rPr lang="en-US" dirty="0"/>
              <a:t>Banks, J., Carson, J. S., Nelson, B. L., &amp; Nicol, D. M. (2005). </a:t>
            </a:r>
            <a:r>
              <a:rPr lang="en-US" i="1" dirty="0"/>
              <a:t>Discrete-Event System Simulation</a:t>
            </a:r>
            <a:r>
              <a:rPr lang="en-US" dirty="0"/>
              <a:t> (4ª ed.). Prentice Hall.</a:t>
            </a:r>
          </a:p>
          <a:p>
            <a:pPr algn="just"/>
            <a:r>
              <a:rPr lang="es-MX" dirty="0"/>
              <a:t>Coss Bu, R. (2003). </a:t>
            </a:r>
            <a:r>
              <a:rPr lang="es-MX" i="1" dirty="0"/>
              <a:t>Simulación: Un enfoque práctico</a:t>
            </a:r>
            <a:r>
              <a:rPr lang="es-MX" dirty="0"/>
              <a:t>. Limusa.</a:t>
            </a:r>
            <a:endParaRPr lang="en-US" dirty="0"/>
          </a:p>
          <a:p>
            <a:pPr algn="just"/>
            <a:r>
              <a:rPr lang="es-MX" dirty="0"/>
              <a:t>Shannon, R. E. (1988). </a:t>
            </a:r>
            <a:r>
              <a:rPr lang="es-MX" i="1" dirty="0"/>
              <a:t>Simulación de sistemas: Su diseño y desarrollo</a:t>
            </a:r>
            <a:r>
              <a:rPr lang="es-MX" dirty="0"/>
              <a:t>. Editorial Trillas.</a:t>
            </a:r>
            <a:endParaRPr lang="en-US" dirty="0"/>
          </a:p>
          <a:p>
            <a:pPr algn="just"/>
            <a:r>
              <a:rPr lang="es-MX" dirty="0"/>
              <a:t>Oracle </a:t>
            </a:r>
            <a:r>
              <a:rPr lang="es-MX" dirty="0" err="1"/>
              <a:t>Documentation</a:t>
            </a:r>
            <a:r>
              <a:rPr lang="es-MX" dirty="0"/>
              <a:t>. (2026). </a:t>
            </a:r>
            <a:r>
              <a:rPr lang="es-MX" i="1" dirty="0"/>
              <a:t>Documentación oficial de </a:t>
            </a:r>
            <a:r>
              <a:rPr lang="es-MX" i="1" dirty="0" err="1"/>
              <a:t>JavaFX</a:t>
            </a:r>
            <a:r>
              <a:rPr lang="es-MX" i="1" dirty="0"/>
              <a:t> y Guía de Conectividad JDBC para Bases de Datos Relacionales</a:t>
            </a:r>
            <a:r>
              <a:rPr lang="es-MX" dirty="0"/>
              <a:t>. Recuperado de la documentación técnica de Java.</a:t>
            </a:r>
          </a:p>
        </p:txBody>
      </p:sp>
    </p:spTree>
    <p:extLst>
      <p:ext uri="{BB962C8B-B14F-4D97-AF65-F5344CB8AC3E}">
        <p14:creationId xmlns:p14="http://schemas.microsoft.com/office/powerpoint/2010/main" val="1578784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ENLACE A GIT-HUB</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a:bodyPr>
          <a:lstStyle/>
          <a:p>
            <a:pPr algn="just"/>
            <a:endParaRPr lang="es-MX" dirty="0"/>
          </a:p>
        </p:txBody>
      </p:sp>
    </p:spTree>
    <p:extLst>
      <p:ext uri="{BB962C8B-B14F-4D97-AF65-F5344CB8AC3E}">
        <p14:creationId xmlns:p14="http://schemas.microsoft.com/office/powerpoint/2010/main" val="424159956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938</Words>
  <Application>Microsoft Office PowerPoint</Application>
  <PresentationFormat>Panorámica</PresentationFormat>
  <Paragraphs>53</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Calibri Light</vt:lpstr>
      <vt:lpstr>Tema de Office</vt:lpstr>
      <vt:lpstr>Presentación de PowerPoint</vt:lpstr>
      <vt:lpstr>INTRODUCCIÓN</vt:lpstr>
      <vt:lpstr>JUSTIFICACIÓN</vt:lpstr>
      <vt:lpstr>Fundamentos del Método de  Monte Carlo </vt:lpstr>
      <vt:lpstr>Arquitectura del Sistema (Módulos Java) </vt:lpstr>
      <vt:lpstr>Dinámica de Comportamiento Urbano (`Ciudadano`)</vt:lpstr>
      <vt:lpstr>Trayectoria del Objeto y Daño Secundario (Meteorito)</vt:lpstr>
      <vt:lpstr>Persistencia y Registro en PostgreSQL</vt:lpstr>
      <vt:lpstr>Estructura de la Vista Principal FXML</vt:lpstr>
      <vt:lpstr>Resultado Final: Interfaz Gráfica en Ejecución</vt:lpstr>
      <vt:lpstr>JUSTIFICACIÓN</vt:lpstr>
      <vt:lpstr>FUENTES DE INFORMACIÓN </vt:lpstr>
      <vt:lpstr>ENLACE A GIT-HUB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Amilcar Corona</dc:creator>
  <cp:lastModifiedBy>Amilcar Corona</cp:lastModifiedBy>
  <cp:revision>6</cp:revision>
  <dcterms:created xsi:type="dcterms:W3CDTF">2026-09-27T02:56:44Z</dcterms:created>
  <dcterms:modified xsi:type="dcterms:W3CDTF">2026-10-08T08:46:14Z</dcterms:modified>
</cp:coreProperties>
</file>