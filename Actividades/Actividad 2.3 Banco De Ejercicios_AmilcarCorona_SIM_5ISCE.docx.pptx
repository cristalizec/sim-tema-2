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3" r:id="rId3"/>
    <p:sldId id="264" r:id="rId4"/>
    <p:sldId id="268" r:id="rId5"/>
    <p:sldId id="265" r:id="rId6"/>
    <p:sldId id="267"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161818-171D-4155-8D3A-9C999D84305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3A8B0240-FD3D-42EE-AC38-0B5C66A95F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3B2AAB05-380C-4AFE-8FA4-2ACEB3ADB365}"/>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5" name="Marcador de pie de página 4">
            <a:extLst>
              <a:ext uri="{FF2B5EF4-FFF2-40B4-BE49-F238E27FC236}">
                <a16:creationId xmlns:a16="http://schemas.microsoft.com/office/drawing/2014/main" id="{C6666B94-0292-4A37-8499-B5526D962CC2}"/>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6F37F8DF-00EE-4145-8FDC-B0828D9C3BBC}"/>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519246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D0EE88-B895-4F84-BA22-EC8E2549C3D0}"/>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099EE24C-89AB-428B-89F3-778AFCA9AFC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6B59399-919B-4AC2-9037-19E2D6A35378}"/>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5" name="Marcador de pie de página 4">
            <a:extLst>
              <a:ext uri="{FF2B5EF4-FFF2-40B4-BE49-F238E27FC236}">
                <a16:creationId xmlns:a16="http://schemas.microsoft.com/office/drawing/2014/main" id="{CE0B057D-8999-486C-8308-3FA5139C8211}"/>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942DE14-8B45-4652-BCD7-9FD4782ED6E0}"/>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484830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31D41A-3E50-44CB-83F2-2907E19F588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750F25D3-C872-4F1A-867D-B6622BC927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0594937-DBDC-4770-B451-B4D232FB36A5}"/>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5" name="Marcador de pie de página 4">
            <a:extLst>
              <a:ext uri="{FF2B5EF4-FFF2-40B4-BE49-F238E27FC236}">
                <a16:creationId xmlns:a16="http://schemas.microsoft.com/office/drawing/2014/main" id="{9924D516-7F2A-420F-91CB-2B2C3D4DDCA1}"/>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AF37024-D215-4902-A8C9-BF6F2B8588D7}"/>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1541691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54294-7C59-44D9-A7AA-0225B20D2312}"/>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5E38B221-B140-4EF4-AF30-DBC352D4B7E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7156FAB2-CC8E-4FE0-B7A9-8E1B2E94DB5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74F3A2B9-DDA4-4F15-9AC0-FEF6E3583CC6}"/>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6" name="Marcador de pie de página 5">
            <a:extLst>
              <a:ext uri="{FF2B5EF4-FFF2-40B4-BE49-F238E27FC236}">
                <a16:creationId xmlns:a16="http://schemas.microsoft.com/office/drawing/2014/main" id="{19DB8938-BC68-4D88-9F33-140DC3A4427D}"/>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6DA0753F-674C-4687-88DD-DF3F42DCF17E}"/>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3046568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C0D4A7-D2D5-46D0-9A4C-2ED69378936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B5D4A1D-64F8-40F6-9A2D-B8C2A2DAF2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93BBCDA-6162-43A7-B7D6-1D132E1DFDB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1728D290-B2BA-4FBE-8DC1-2B6366E242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B02E533-93E1-4D1E-AB60-272907389BD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F451C769-ED98-4CDF-ADE9-AC02CC29F78B}"/>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8" name="Marcador de pie de página 7">
            <a:extLst>
              <a:ext uri="{FF2B5EF4-FFF2-40B4-BE49-F238E27FC236}">
                <a16:creationId xmlns:a16="http://schemas.microsoft.com/office/drawing/2014/main" id="{38458C71-80D3-4074-ADAE-6C0B7D5C3FB8}"/>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E8933A45-F6F4-42C1-BD14-0D4B6DBC803A}"/>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2447932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D9B14E-B888-46FC-B3EA-C0502AF4CD6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CB2B2224-DFBF-4C69-8F9F-AC8B37E5FC52}"/>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4" name="Marcador de pie de página 3">
            <a:extLst>
              <a:ext uri="{FF2B5EF4-FFF2-40B4-BE49-F238E27FC236}">
                <a16:creationId xmlns:a16="http://schemas.microsoft.com/office/drawing/2014/main" id="{EC84D4BC-4044-4614-B750-76237B86E909}"/>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D434E905-AC3E-4D0C-A468-0C5C389936DF}"/>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2239104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799E903-BCBA-4FFA-AA9A-F82AD308EAF3}"/>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3" name="Marcador de pie de página 2">
            <a:extLst>
              <a:ext uri="{FF2B5EF4-FFF2-40B4-BE49-F238E27FC236}">
                <a16:creationId xmlns:a16="http://schemas.microsoft.com/office/drawing/2014/main" id="{DA6ECC6D-44CE-4202-86DB-656FFD027CC5}"/>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85859A4-BD82-48A2-BC55-46B961251091}"/>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18032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C04906-ECC6-4053-8AE4-56FA13C70DB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B2746564-32A7-4AC3-8BE8-B7D1438DE4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7A7E42F8-C4A2-4F5A-BED2-3C20AB24B2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2BB1C4-6F93-4FAA-8D4D-990A5F2E7426}"/>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6" name="Marcador de pie de página 5">
            <a:extLst>
              <a:ext uri="{FF2B5EF4-FFF2-40B4-BE49-F238E27FC236}">
                <a16:creationId xmlns:a16="http://schemas.microsoft.com/office/drawing/2014/main" id="{08706E31-676D-4A19-BDA6-02A03F2BC60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2F7E49F6-28BC-4E7B-8799-87FDFA04C4B5}"/>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358546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97BC1-A738-4302-8C0A-DFDB6340E59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CEBEAD3E-CB5E-440B-9F13-D75EA95B38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8DA46FAD-BF4C-4B19-A216-BA04E52A86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4D80734-A125-4FB9-9E21-4D6BDC09F7B3}"/>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6" name="Marcador de pie de página 5">
            <a:extLst>
              <a:ext uri="{FF2B5EF4-FFF2-40B4-BE49-F238E27FC236}">
                <a16:creationId xmlns:a16="http://schemas.microsoft.com/office/drawing/2014/main" id="{30101735-79CF-4D99-A3B0-FEECE635A6D6}"/>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2E0CA2A-9B50-42EE-866F-4B5FA400232C}"/>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66894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62AB9-B67A-440D-B99D-D3C24EC330A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AD2B8F92-A9E1-46B3-A19A-AA799FA974E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7C18C606-7F7C-4E63-B2A7-2EECE78F4549}"/>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5" name="Marcador de pie de página 4">
            <a:extLst>
              <a:ext uri="{FF2B5EF4-FFF2-40B4-BE49-F238E27FC236}">
                <a16:creationId xmlns:a16="http://schemas.microsoft.com/office/drawing/2014/main" id="{21199AAF-B653-4339-8884-8A6B3430E9D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A1C0910-C36D-4138-A138-F02CD4836A47}"/>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1590417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B4BCB51-C085-41F2-987A-CB315291EBB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3821429B-881C-4FC4-AC11-4E37777C2DB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A4B0257F-6302-4088-BBE8-AD1930156B16}"/>
              </a:ext>
            </a:extLst>
          </p:cNvPr>
          <p:cNvSpPr>
            <a:spLocks noGrp="1"/>
          </p:cNvSpPr>
          <p:nvPr>
            <p:ph type="dt" sz="half" idx="10"/>
          </p:nvPr>
        </p:nvSpPr>
        <p:spPr/>
        <p:txBody>
          <a:bodyPr/>
          <a:lstStyle/>
          <a:p>
            <a:fld id="{06D260AF-B647-4347-B6C5-41B41E979CF6}" type="datetimeFigureOut">
              <a:rPr lang="en-US" smtClean="0"/>
              <a:t>10/8/2026</a:t>
            </a:fld>
            <a:endParaRPr lang="en-US"/>
          </a:p>
        </p:txBody>
      </p:sp>
      <p:sp>
        <p:nvSpPr>
          <p:cNvPr id="5" name="Marcador de pie de página 4">
            <a:extLst>
              <a:ext uri="{FF2B5EF4-FFF2-40B4-BE49-F238E27FC236}">
                <a16:creationId xmlns:a16="http://schemas.microsoft.com/office/drawing/2014/main" id="{099766FF-5C17-4258-8EF5-85EED0161F7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A9A22A79-96B5-4C3A-972A-3279F2C7F9E5}"/>
              </a:ext>
            </a:extLst>
          </p:cNvPr>
          <p:cNvSpPr>
            <a:spLocks noGrp="1"/>
          </p:cNvSpPr>
          <p:nvPr>
            <p:ph type="sldNum" sz="quarter" idx="12"/>
          </p:nvPr>
        </p:nvSpPr>
        <p:spPr/>
        <p:txBody>
          <a:bodyPr/>
          <a:lstStyle/>
          <a:p>
            <a:fld id="{12F47995-E821-4281-B46F-1E4D6913A890}" type="slidenum">
              <a:rPr lang="en-US" smtClean="0"/>
              <a:t>‹Nº›</a:t>
            </a:fld>
            <a:endParaRPr lang="en-US"/>
          </a:p>
        </p:txBody>
      </p:sp>
    </p:spTree>
    <p:extLst>
      <p:ext uri="{BB962C8B-B14F-4D97-AF65-F5344CB8AC3E}">
        <p14:creationId xmlns:p14="http://schemas.microsoft.com/office/powerpoint/2010/main" val="2825499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BAB99A2-5255-401E-83A3-37EC834151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218E229E-01AE-4504-9383-85159F57CA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CF3042D6-98E8-421A-8622-F853E999D9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260AF-B647-4347-B6C5-41B41E979CF6}" type="datetimeFigureOut">
              <a:rPr lang="en-US" smtClean="0"/>
              <a:t>10/8/2026</a:t>
            </a:fld>
            <a:endParaRPr lang="en-US"/>
          </a:p>
        </p:txBody>
      </p:sp>
      <p:sp>
        <p:nvSpPr>
          <p:cNvPr id="5" name="Marcador de pie de página 4">
            <a:extLst>
              <a:ext uri="{FF2B5EF4-FFF2-40B4-BE49-F238E27FC236}">
                <a16:creationId xmlns:a16="http://schemas.microsoft.com/office/drawing/2014/main" id="{194575FB-665A-463F-9ED2-DDD425AEDC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48120FE2-A0FD-4F51-95F4-18AE1530E7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F47995-E821-4281-B46F-1E4D6913A890}" type="slidenum">
              <a:rPr lang="en-US" smtClean="0"/>
              <a:t>‹Nº›</a:t>
            </a:fld>
            <a:endParaRPr lang="en-US"/>
          </a:p>
        </p:txBody>
      </p:sp>
    </p:spTree>
    <p:extLst>
      <p:ext uri="{BB962C8B-B14F-4D97-AF65-F5344CB8AC3E}">
        <p14:creationId xmlns:p14="http://schemas.microsoft.com/office/powerpoint/2010/main" val="1078257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B55A-9E1F-8D29-0DCB-C47BC4F389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59DC9C-D120-BB42-C76E-04D768E9B672}"/>
              </a:ext>
            </a:extLst>
          </p:cNvPr>
          <p:cNvPicPr>
            <a:picLocks noChangeAspect="1"/>
          </p:cNvPicPr>
          <p:nvPr/>
        </p:nvPicPr>
        <p:blipFill>
          <a:blip r:embed="rId2"/>
          <a:stretch>
            <a:fillRect/>
          </a:stretch>
        </p:blipFill>
        <p:spPr>
          <a:xfrm>
            <a:off x="-1" y="0"/>
            <a:ext cx="12192001" cy="6883502"/>
          </a:xfrm>
          <a:prstGeom prst="rect">
            <a:avLst/>
          </a:prstGeom>
        </p:spPr>
      </p:pic>
      <p:sp>
        <p:nvSpPr>
          <p:cNvPr id="10" name="CuadroTexto 9">
            <a:extLst>
              <a:ext uri="{FF2B5EF4-FFF2-40B4-BE49-F238E27FC236}">
                <a16:creationId xmlns:a16="http://schemas.microsoft.com/office/drawing/2014/main" id="{FEAF6B11-374C-1FAD-7A54-8CF665967FFB}"/>
              </a:ext>
            </a:extLst>
          </p:cNvPr>
          <p:cNvSpPr txBox="1"/>
          <p:nvPr/>
        </p:nvSpPr>
        <p:spPr>
          <a:xfrm>
            <a:off x="1624007" y="1551303"/>
            <a:ext cx="8438293" cy="5094985"/>
          </a:xfrm>
          <a:prstGeom prst="rect">
            <a:avLst/>
          </a:prstGeom>
          <a:noFill/>
        </p:spPr>
        <p:txBody>
          <a:bodyPr wrap="square">
            <a:spAutoFit/>
          </a:bodyPr>
          <a:lstStyle/>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TECNOLOGICO NACIONAL DE MEXICO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INSTITUTO TECNOLOGICO DE FRONTERA COMALAPA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CARRERA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INGENIERIA EN SISTEMAS COMPUTACIONALES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MATERIA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SIMULACIÓN</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TRABAJO</a:t>
            </a:r>
          </a:p>
          <a:p>
            <a:pPr algn="ctr">
              <a:lnSpc>
                <a:spcPct val="107000"/>
              </a:lnSpc>
              <a:spcAft>
                <a:spcPts val="800"/>
              </a:spcAft>
              <a:buNone/>
            </a:pPr>
            <a:r>
              <a:rPr lang="es-MX" sz="1400" dirty="0">
                <a:latin typeface="Calibri" panose="020F0502020204030204" pitchFamily="34" charset="0"/>
                <a:ea typeface="Calibri" panose="020F0502020204030204" pitchFamily="34" charset="0"/>
                <a:cs typeface="Times New Roman" panose="02020603050405020304" pitchFamily="18" charset="0"/>
              </a:rPr>
              <a:t>ACTIVIDAD 2.3 BANCO DE EJERCICIOS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CATEDRATICO</a:t>
            </a:r>
          </a:p>
          <a:p>
            <a:pPr algn="ctr">
              <a:lnSpc>
                <a:spcPct val="107000"/>
              </a:lnSpc>
              <a:spcAft>
                <a:spcPts val="800"/>
              </a:spcAft>
            </a:pPr>
            <a:r>
              <a:rPr lang="es-ES" altLang="es-MX" sz="1400" dirty="0">
                <a:latin typeface="Calibri" panose="020F0502020204030204" pitchFamily="34" charset="0"/>
                <a:ea typeface="Calibri" panose="020F0502020204030204" pitchFamily="34" charset="0"/>
                <a:cs typeface="Calibri" panose="020F0502020204030204" pitchFamily="34" charset="0"/>
              </a:rPr>
              <a:t>ING. FRANCISCO JAVIER MINGO VELAZQUEZ </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ESTUDIANTE </a:t>
            </a:r>
          </a:p>
          <a:p>
            <a:pPr lvl="0" algn="ctr" defTabSz="914400" eaLnBrk="0" fontAlgn="base" hangingPunct="0">
              <a:spcBef>
                <a:spcPct val="0"/>
              </a:spcBef>
              <a:spcAft>
                <a:spcPct val="0"/>
              </a:spcAft>
            </a:pPr>
            <a:r>
              <a:rPr lang="es-MX" altLang="es-MX" sz="1400" dirty="0">
                <a:latin typeface="Calibri" panose="020F0502020204030204" pitchFamily="34" charset="0"/>
                <a:ea typeface="Calibri" panose="020F0502020204030204" pitchFamily="34" charset="0"/>
                <a:cs typeface="Calibri" panose="020F0502020204030204" pitchFamily="34" charset="0"/>
              </a:rPr>
              <a:t>AMILCAR AEJANDRO CORONA ESCOBAR - 2412600074</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SEMESTRE </a:t>
            </a:r>
            <a:r>
              <a:rPr lang="es-MX" sz="1100" b="1" dirty="0">
                <a:effectLst/>
                <a:latin typeface="Calibri" panose="020F0502020204030204" pitchFamily="34" charset="0"/>
                <a:ea typeface="Calibri" panose="020F0502020204030204" pitchFamily="34" charset="0"/>
                <a:cs typeface="Times New Roman" panose="02020603050405020304" pitchFamily="18" charset="0"/>
              </a:rPr>
              <a:t>:</a:t>
            </a:r>
            <a:r>
              <a:rPr lang="es-MX" sz="1100" b="1" dirty="0">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buNone/>
            </a:pPr>
            <a:r>
              <a:rPr lang="es-MX" sz="1100" b="1" dirty="0">
                <a:effectLst/>
                <a:latin typeface="Calibri" panose="020F0502020204030204" pitchFamily="34" charset="0"/>
                <a:ea typeface="Calibri" panose="020F0502020204030204" pitchFamily="34" charset="0"/>
                <a:cs typeface="Times New Roman" panose="02020603050405020304" pitchFamily="18" charset="0"/>
              </a:rPr>
              <a:t>5</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400" b="1" dirty="0">
                <a:effectLst/>
                <a:latin typeface="Calibri" panose="020F0502020204030204" pitchFamily="34" charset="0"/>
                <a:ea typeface="Calibri" panose="020F0502020204030204" pitchFamily="34" charset="0"/>
                <a:cs typeface="Times New Roman" panose="02020603050405020304" pitchFamily="18" charset="0"/>
              </a:rPr>
              <a:t>FRONTERA COMALAPA FECHA DE ENTREGA:</a:t>
            </a:r>
            <a:r>
              <a:rPr lang="es-MX" sz="1100" b="1" dirty="0">
                <a:effectLst/>
                <a:latin typeface="Calibri" panose="020F0502020204030204" pitchFamily="34" charset="0"/>
                <a:ea typeface="Calibri" panose="020F0502020204030204" pitchFamily="34" charset="0"/>
                <a:cs typeface="Times New Roman" panose="02020603050405020304" pitchFamily="18" charset="0"/>
              </a:rPr>
              <a:t> </a:t>
            </a:r>
            <a:r>
              <a:rPr lang="es-ES" sz="1100" b="1" dirty="0">
                <a:latin typeface="Arial" panose="020B0604020202020204" pitchFamily="34" charset="0"/>
                <a:ea typeface="Calibri" panose="020F0502020204030204" pitchFamily="34" charset="0"/>
                <a:cs typeface="Arial" panose="020B0604020202020204" pitchFamily="34" charset="0"/>
              </a:rPr>
              <a:t>25</a:t>
            </a:r>
            <a:r>
              <a:rPr lang="es-ES" sz="1100" b="1" dirty="0">
                <a:effectLst/>
                <a:latin typeface="Arial" panose="020B0604020202020204" pitchFamily="34" charset="0"/>
                <a:ea typeface="Calibri" panose="020F0502020204030204" pitchFamily="34" charset="0"/>
                <a:cs typeface="Arial" panose="020B0604020202020204" pitchFamily="34" charset="0"/>
              </a:rPr>
              <a:t> DE </a:t>
            </a:r>
            <a:r>
              <a:rPr lang="es-ES" sz="1100" b="1" dirty="0">
                <a:latin typeface="Arial" panose="020B0604020202020204" pitchFamily="34" charset="0"/>
                <a:ea typeface="Calibri" panose="020F0502020204030204" pitchFamily="34" charset="0"/>
                <a:cs typeface="Arial" panose="020B0604020202020204" pitchFamily="34" charset="0"/>
              </a:rPr>
              <a:t>SEPTIEMBRE</a:t>
            </a:r>
            <a:r>
              <a:rPr lang="es-ES" sz="1100" b="1" dirty="0">
                <a:effectLst/>
                <a:latin typeface="Arial" panose="020B0604020202020204" pitchFamily="34" charset="0"/>
                <a:ea typeface="Calibri" panose="020F0502020204030204" pitchFamily="34" charset="0"/>
                <a:cs typeface="Arial" panose="020B0604020202020204" pitchFamily="34" charset="0"/>
              </a:rPr>
              <a:t> DEL 2026</a:t>
            </a:r>
            <a:endParaRPr lang="es-MX" altLang="es-MX" sz="1100" dirty="0">
              <a:latin typeface="Arial" panose="020B0604020202020204" pitchFamily="34" charset="0"/>
              <a:cs typeface="Arial" panose="020B0604020202020204" pitchFamily="34" charset="0"/>
            </a:endParaRPr>
          </a:p>
          <a:p>
            <a:pPr algn="ctr">
              <a:lnSpc>
                <a:spcPct val="107000"/>
              </a:lnSpc>
              <a:spcAft>
                <a:spcPts val="800"/>
              </a:spcAft>
              <a:buNone/>
            </a:pP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n 11" descr="Secretaría de Educación Pública | Secretaría de Educación ...">
            <a:extLst>
              <a:ext uri="{FF2B5EF4-FFF2-40B4-BE49-F238E27FC236}">
                <a16:creationId xmlns:a16="http://schemas.microsoft.com/office/drawing/2014/main" id="{EFECA14D-D8FE-EF74-7C06-2DF34B28693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692" b="89868" l="2338" r="96104">
                        <a14:foregroundMark x1="12208" y1="37885" x2="48312" y2="32599"/>
                        <a14:foregroundMark x1="48312" y1="32599" x2="29610" y2="48018"/>
                        <a14:foregroundMark x1="29610" y1="48018" x2="56364" y2="33480"/>
                        <a14:foregroundMark x1="56364" y1="33480" x2="83896" y2="40529"/>
                        <a14:foregroundMark x1="83896" y1="40529" x2="62078" y2="33480"/>
                        <a14:foregroundMark x1="62078" y1="33480" x2="40779" y2="49339"/>
                        <a14:foregroundMark x1="40779" y1="49339" x2="18961" y2="51542"/>
                        <a14:foregroundMark x1="18961" y1="51542" x2="73506" y2="18943"/>
                        <a14:foregroundMark x1="73506" y1="18943" x2="52987" y2="56828"/>
                        <a14:foregroundMark x1="52987" y1="56828" x2="78701" y2="30837"/>
                        <a14:foregroundMark x1="78701" y1="30837" x2="77662" y2="65198"/>
                        <a14:foregroundMark x1="8571" y1="57269" x2="4675" y2="58590"/>
                        <a14:foregroundMark x1="7532" y1="44493" x2="30390" y2="64317"/>
                        <a14:foregroundMark x1="30390" y1="64317" x2="25195" y2="78855"/>
                        <a14:foregroundMark x1="16883" y1="77093" x2="19740" y2="83700"/>
                        <a14:foregroundMark x1="11948" y1="72687" x2="12727" y2="77093"/>
                        <a14:foregroundMark x1="7532" y1="63877" x2="7532" y2="65198"/>
                        <a14:foregroundMark x1="7532" y1="65198" x2="7532" y2="65198"/>
                        <a14:foregroundMark x1="7532" y1="65198" x2="7532" y2="65198"/>
                        <a14:foregroundMark x1="7532" y1="65198" x2="7532" y2="65198"/>
                        <a14:foregroundMark x1="7532" y1="65198" x2="7532" y2="65198"/>
                        <a14:foregroundMark x1="7532" y1="65198" x2="2597" y2="55507"/>
                        <a14:foregroundMark x1="6753" y1="43612" x2="8052" y2="37885"/>
                        <a14:foregroundMark x1="12727" y1="30396" x2="10130" y2="37004"/>
                        <a14:foregroundMark x1="16364" y1="37004" x2="23117" y2="30396"/>
                        <a14:foregroundMark x1="37662" y1="64758" x2="44156" y2="65198"/>
                        <a14:foregroundMark x1="58961" y1="65198" x2="70390" y2="65198"/>
                        <a14:foregroundMark x1="58961" y1="62115" x2="48052" y2="65198"/>
                        <a14:foregroundMark x1="73247" y1="67841" x2="80519" y2="66079"/>
                        <a14:foregroundMark x1="83377" y1="54626" x2="94026" y2="52863"/>
                        <a14:foregroundMark x1="94545" y1="46256" x2="82338" y2="51101"/>
                        <a14:foregroundMark x1="82597" y1="40529" x2="94545" y2="47137"/>
                        <a14:foregroundMark x1="94805" y1="41410" x2="96104" y2="56388"/>
                        <a14:foregroundMark x1="93247" y1="41410" x2="91429" y2="43172"/>
                        <a14:foregroundMark x1="93506" y1="43172" x2="84675" y2="39648"/>
                        <a14:foregroundMark x1="88831" y1="39648" x2="89351" y2="36123"/>
                        <a14:foregroundMark x1="94805" y1="36123" x2="91169" y2="44493"/>
                        <a14:foregroundMark x1="95584" y1="51101" x2="95584" y2="40529"/>
                        <a14:foregroundMark x1="91169" y1="30396" x2="82597" y2="40529"/>
                      </a14:backgroundRemoval>
                    </a14:imgEffect>
                  </a14:imgLayer>
                </a14:imgProps>
              </a:ext>
              <a:ext uri="{28A0092B-C50C-407E-A947-70E740481C1C}">
                <a14:useLocalDpi xmlns:a14="http://schemas.microsoft.com/office/drawing/2010/main" val="0"/>
              </a:ext>
            </a:extLst>
          </a:blip>
          <a:srcRect/>
          <a:stretch>
            <a:fillRect/>
          </a:stretch>
        </p:blipFill>
        <p:spPr bwMode="auto">
          <a:xfrm>
            <a:off x="891096" y="519736"/>
            <a:ext cx="2667391" cy="1352480"/>
          </a:xfrm>
          <a:prstGeom prst="rect">
            <a:avLst/>
          </a:prstGeom>
          <a:noFill/>
          <a:ln>
            <a:noFill/>
          </a:ln>
        </p:spPr>
      </p:pic>
      <p:pic>
        <p:nvPicPr>
          <p:cNvPr id="14" name="Imagen 13" descr="Logos Oficiales – Tecnológico Nacional de México">
            <a:extLst>
              <a:ext uri="{FF2B5EF4-FFF2-40B4-BE49-F238E27FC236}">
                <a16:creationId xmlns:a16="http://schemas.microsoft.com/office/drawing/2014/main" id="{95213785-F39B-A169-C99D-1172B99500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2440" y="618059"/>
            <a:ext cx="2055088" cy="970177"/>
          </a:xfrm>
          <a:prstGeom prst="rect">
            <a:avLst/>
          </a:prstGeom>
          <a:noFill/>
          <a:ln>
            <a:noFill/>
          </a:ln>
        </p:spPr>
      </p:pic>
      <p:pic>
        <p:nvPicPr>
          <p:cNvPr id="16" name="Imagen 15" descr="TecNM | Tecnológico Nacional de México">
            <a:extLst>
              <a:ext uri="{FF2B5EF4-FFF2-40B4-BE49-F238E27FC236}">
                <a16:creationId xmlns:a16="http://schemas.microsoft.com/office/drawing/2014/main" id="{EB3A2178-9F41-48BC-3E38-CA8D606F8C26}"/>
              </a:ext>
            </a:extLst>
          </p:cNvPr>
          <p:cNvPicPr>
            <a:picLocks noChangeAspect="1"/>
          </p:cNvPicPr>
          <p:nvPr/>
        </p:nvPicPr>
        <p:blipFill>
          <a:blip r:embed="rId6">
            <a:extLst>
              <a:ext uri="{28A0092B-C50C-407E-A947-70E740481C1C}">
                <a14:useLocalDpi xmlns:a14="http://schemas.microsoft.com/office/drawing/2010/main" val="0"/>
              </a:ext>
            </a:extLst>
          </a:blip>
          <a:srcRect b="9635"/>
          <a:stretch>
            <a:fillRect/>
          </a:stretch>
        </p:blipFill>
        <p:spPr bwMode="auto">
          <a:xfrm>
            <a:off x="9085797" y="735091"/>
            <a:ext cx="1953006" cy="1127293"/>
          </a:xfrm>
          <a:prstGeom prst="rect">
            <a:avLst/>
          </a:prstGeom>
          <a:noFill/>
          <a:ln>
            <a:noFill/>
          </a:ln>
        </p:spPr>
      </p:pic>
    </p:spTree>
    <p:extLst>
      <p:ext uri="{BB962C8B-B14F-4D97-AF65-F5344CB8AC3E}">
        <p14:creationId xmlns:p14="http://schemas.microsoft.com/office/powerpoint/2010/main" val="283541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INTRODUCCIÓN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marL="0" indent="0" algn="just">
              <a:buNone/>
            </a:pPr>
            <a:r>
              <a:rPr lang="es-MX" dirty="0"/>
              <a:t>	El presente banco de ejercicios recopila la implementación práctica de modelos estocásticos y simulaciones orientadas a eventos discretos mediante el uso del Método de Monte Carlo y la generación de números pseudoaleatorios. El desarrollo técnico abarca entornos multiplataforma utilizando Java (en IntelliJ IDEA) para la lógica de interfaces y motores gráficos, así como Python para procesamiento analítico de datos. Como parte fundamental de la ingeniería de software moderna, cada programa incorpora un flujo de almacenamiento automatizado conectado a bases de datos relacionales en PostgreSQL, permitiendo la gestión de </a:t>
            </a:r>
            <a:r>
              <a:rPr lang="es-MX" dirty="0" err="1"/>
              <a:t>datasets</a:t>
            </a:r>
            <a:r>
              <a:rPr lang="es-MX" dirty="0"/>
              <a:t> históricos mediante el uso de la interfaz gráfica de administración </a:t>
            </a:r>
            <a:r>
              <a:rPr lang="es-MX" dirty="0" err="1"/>
              <a:t>pgAdmin</a:t>
            </a:r>
            <a:r>
              <a:rPr lang="es-MX" dirty="0"/>
              <a:t>. Este compendio demuestra la transición desde el diseño teórico de algoritmos probabilísticos hasta su ejecución funcional y persistencia estructurada.</a:t>
            </a:r>
            <a:endParaRPr lang="en-US" dirty="0"/>
          </a:p>
        </p:txBody>
      </p:sp>
    </p:spTree>
    <p:extLst>
      <p:ext uri="{BB962C8B-B14F-4D97-AF65-F5344CB8AC3E}">
        <p14:creationId xmlns:p14="http://schemas.microsoft.com/office/powerpoint/2010/main" val="278548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JUSTIFICACIÓN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marL="0" indent="0" algn="just">
              <a:buNone/>
            </a:pPr>
            <a:r>
              <a:rPr lang="es-MX" dirty="0"/>
              <a:t>	La simulación de sistemas complejos bajo condiciones de incertidumbre es una competencia indispensable en la ingeniería de sistemas computacionales, ya que permite evaluar escenarios de riesgo, comportamiento de agentes y variables aleatorias sin comprometer recursos del mundo real. La creación de este banco de compilaciones se justifica en la necesidad de documentar empíricamente el funcionamiento de los algoritmos estocásticos, evidenciando el estado inicial del código y la ejecución del programa en tiempo de ejecución ("antes y después"). Asimismo, la integración de bases de datos relacionales garantiza que la información generada por cada simulación no sea volátil, aportando valor analítico a través de la estructuración de </a:t>
            </a:r>
            <a:r>
              <a:rPr lang="es-MX" dirty="0" err="1"/>
              <a:t>datasets</a:t>
            </a:r>
            <a:r>
              <a:rPr lang="es-MX" dirty="0"/>
              <a:t> para la toma de decisiones, auditorías y trazabilidad de los experimentos computacionales.</a:t>
            </a:r>
            <a:endParaRPr lang="en-US" dirty="0"/>
          </a:p>
        </p:txBody>
      </p:sp>
    </p:spTree>
    <p:extLst>
      <p:ext uri="{BB962C8B-B14F-4D97-AF65-F5344CB8AC3E}">
        <p14:creationId xmlns:p14="http://schemas.microsoft.com/office/powerpoint/2010/main" val="3917237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523240" y="2356485"/>
            <a:ext cx="10774680" cy="1514475"/>
          </a:xfrm>
        </p:spPr>
        <p:txBody>
          <a:bodyPr>
            <a:normAutofit fontScale="90000"/>
          </a:bodyPr>
          <a:lstStyle/>
          <a:p>
            <a:pPr algn="ctr"/>
            <a:r>
              <a:rPr lang="en-US" sz="6000" b="1" dirty="0"/>
              <a:t>IntelliJ:</a:t>
            </a:r>
            <a:br>
              <a:rPr lang="en-US" sz="6000" b="1" dirty="0"/>
            </a:br>
            <a:r>
              <a:rPr lang="en-US" sz="6000" b="1" dirty="0" err="1"/>
              <a:t>METEORSimulator</a:t>
            </a:r>
            <a:endParaRPr lang="en-US" sz="6000" b="1" dirty="0"/>
          </a:p>
        </p:txBody>
      </p:sp>
    </p:spTree>
    <p:extLst>
      <p:ext uri="{BB962C8B-B14F-4D97-AF65-F5344CB8AC3E}">
        <p14:creationId xmlns:p14="http://schemas.microsoft.com/office/powerpoint/2010/main" val="1219466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Estado </a:t>
            </a:r>
            <a:r>
              <a:rPr lang="en-US" b="1" dirty="0" err="1"/>
              <a:t>Inicial</a:t>
            </a:r>
            <a:r>
              <a:rPr lang="en-US" b="1" dirty="0"/>
              <a:t> del </a:t>
            </a:r>
            <a:r>
              <a:rPr lang="en-US" b="1" dirty="0" err="1"/>
              <a:t>Simulador</a:t>
            </a:r>
            <a:endParaRPr lang="en-US" b="1" dirty="0"/>
          </a:p>
        </p:txBody>
      </p:sp>
      <p:sp>
        <p:nvSpPr>
          <p:cNvPr id="14" name="CuadroTexto 13">
            <a:extLst>
              <a:ext uri="{FF2B5EF4-FFF2-40B4-BE49-F238E27FC236}">
                <a16:creationId xmlns:a16="http://schemas.microsoft.com/office/drawing/2014/main" id="{0E846AD7-D0F1-47A4-85D1-B352B25D6FB2}"/>
              </a:ext>
            </a:extLst>
          </p:cNvPr>
          <p:cNvSpPr txBox="1"/>
          <p:nvPr/>
        </p:nvSpPr>
        <p:spPr>
          <a:xfrm>
            <a:off x="6096000" y="2309252"/>
            <a:ext cx="5181600" cy="2031325"/>
          </a:xfrm>
          <a:prstGeom prst="rect">
            <a:avLst/>
          </a:prstGeom>
          <a:noFill/>
        </p:spPr>
        <p:txBody>
          <a:bodyPr wrap="square">
            <a:spAutoFit/>
          </a:bodyPr>
          <a:lstStyle/>
          <a:p>
            <a:pPr algn="just"/>
            <a:r>
              <a:rPr lang="es-MX" b="1" dirty="0"/>
              <a:t>La interfaz gráfica se encuentra inicializada y en espera de los parámetros de entrada del usuario. En esta fase, el sistema establece los valores base para la población total, el diámetro del cráter y la velocidad de caída, conectándose de manera automática a la base de datos local para verificar el estado del servidor.</a:t>
            </a:r>
            <a:endParaRPr lang="en-US" b="1" dirty="0"/>
          </a:p>
        </p:txBody>
      </p:sp>
      <p:pic>
        <p:nvPicPr>
          <p:cNvPr id="18" name="Marcador de contenido 17">
            <a:extLst>
              <a:ext uri="{FF2B5EF4-FFF2-40B4-BE49-F238E27FC236}">
                <a16:creationId xmlns:a16="http://schemas.microsoft.com/office/drawing/2014/main" id="{D27D6F5D-C732-401A-B288-692FB746790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7423" y="2055813"/>
            <a:ext cx="5582281" cy="3139123"/>
          </a:xfrm>
        </p:spPr>
      </p:pic>
    </p:spTree>
    <p:extLst>
      <p:ext uri="{BB962C8B-B14F-4D97-AF65-F5344CB8AC3E}">
        <p14:creationId xmlns:p14="http://schemas.microsoft.com/office/powerpoint/2010/main" val="3024075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err="1"/>
              <a:t>Ejecución</a:t>
            </a:r>
            <a:r>
              <a:rPr lang="en-US" b="1" dirty="0"/>
              <a:t> de la </a:t>
            </a:r>
            <a:r>
              <a:rPr lang="en-US" b="1" dirty="0" err="1"/>
              <a:t>Simulación</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stretch>
            <a:fillRect/>
          </a:stretch>
        </p:blipFill>
        <p:spPr>
          <a:xfrm>
            <a:off x="234971" y="2210641"/>
            <a:ext cx="5626059" cy="3163741"/>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simulación se encuentra corriendo en tiempo real tras la aplicación del modelo estocástico de Monte Carlo. El sistema calcula las trayectorias, la dispersión de la onda expansiva y el comportamiento de huida de los ciudadanos, mostrando en pantalla las métricas dinámicas de tiempo, evacuados y caídos. </a:t>
            </a:r>
            <a:endParaRPr lang="en-US" b="1" dirty="0"/>
          </a:p>
        </p:txBody>
      </p:sp>
    </p:spTree>
    <p:extLst>
      <p:ext uri="{BB962C8B-B14F-4D97-AF65-F5344CB8AC3E}">
        <p14:creationId xmlns:p14="http://schemas.microsoft.com/office/powerpoint/2010/main" val="2437078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err="1"/>
              <a:t>Persistencia</a:t>
            </a:r>
            <a:r>
              <a:rPr lang="en-US" b="1" dirty="0"/>
              <a:t> del Dataset </a:t>
            </a:r>
            <a:r>
              <a:rPr lang="en-US" b="1" dirty="0" err="1"/>
              <a:t>en</a:t>
            </a:r>
            <a:r>
              <a:rPr lang="en-US" b="1" dirty="0"/>
              <a:t> PostgreSQL</a:t>
            </a:r>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4971" y="2210641"/>
            <a:ext cx="5626058" cy="3163741"/>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Una vez finalizada la ejecución, el software ejecuta de manera automatizada una sentencia SQL vía JDBC para almacenar el registro histórico. En la herramienta </a:t>
            </a:r>
            <a:r>
              <a:rPr lang="es-MX" b="1" dirty="0" err="1"/>
              <a:t>pgAdmin</a:t>
            </a:r>
            <a:r>
              <a:rPr lang="es-MX" b="1" dirty="0"/>
              <a:t> se visualiza el </a:t>
            </a:r>
            <a:r>
              <a:rPr lang="es-MX" b="1" dirty="0" err="1"/>
              <a:t>dataset</a:t>
            </a:r>
            <a:r>
              <a:rPr lang="es-MX" b="1" dirty="0"/>
              <a:t> estructurado en tablas relacionales, permitiendo auditar la población total, evacuados, porcentaje de supervivencia y marcas de tiempo de cada prueba.</a:t>
            </a:r>
            <a:endParaRPr lang="en-US" b="1" dirty="0"/>
          </a:p>
        </p:txBody>
      </p:sp>
    </p:spTree>
    <p:extLst>
      <p:ext uri="{BB962C8B-B14F-4D97-AF65-F5344CB8AC3E}">
        <p14:creationId xmlns:p14="http://schemas.microsoft.com/office/powerpoint/2010/main" val="78014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523240" y="2356485"/>
            <a:ext cx="10774680" cy="1514475"/>
          </a:xfrm>
        </p:spPr>
        <p:txBody>
          <a:bodyPr>
            <a:normAutofit fontScale="90000"/>
          </a:bodyPr>
          <a:lstStyle/>
          <a:p>
            <a:pPr algn="ctr"/>
            <a:r>
              <a:rPr lang="en-US" sz="6000" b="1" dirty="0"/>
              <a:t>IntelliJ:</a:t>
            </a:r>
            <a:br>
              <a:rPr lang="en-US" sz="6000" b="1" dirty="0"/>
            </a:br>
            <a:r>
              <a:rPr lang="en-US" sz="6000" b="1" dirty="0" err="1"/>
              <a:t>AgroFlySimulator</a:t>
            </a:r>
            <a:endParaRPr lang="en-US" sz="6000" b="1" dirty="0"/>
          </a:p>
        </p:txBody>
      </p:sp>
    </p:spTree>
    <p:extLst>
      <p:ext uri="{BB962C8B-B14F-4D97-AF65-F5344CB8AC3E}">
        <p14:creationId xmlns:p14="http://schemas.microsoft.com/office/powerpoint/2010/main" val="3505976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Estado </a:t>
            </a:r>
            <a:r>
              <a:rPr lang="en-US" b="1" dirty="0" err="1"/>
              <a:t>Inicial</a:t>
            </a:r>
            <a:r>
              <a:rPr lang="en-US" b="1" dirty="0"/>
              <a:t> del </a:t>
            </a:r>
            <a:r>
              <a:rPr lang="en-US" b="1" dirty="0" err="1"/>
              <a:t>Simulador</a:t>
            </a:r>
            <a:r>
              <a:rPr lang="en-US" b="1" dirty="0"/>
              <a:t> </a:t>
            </a:r>
            <a:r>
              <a:rPr lang="en-US" b="1" dirty="0" err="1"/>
              <a:t>AgroFly</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5786" y="2210641"/>
            <a:ext cx="5624428" cy="3163741"/>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interfaz gráfica se encuentra cargada y lista para recibir los parámetros de la misión agrícola. En esta etapa inicial, el sistema permite configurar la cantidad de drones activos, la velocidad y la dirección del viento mediante controles deslizantes, estableciendo los valores base antes de iniciar el proceso de fumigación en el campo.</a:t>
            </a:r>
            <a:endParaRPr lang="en-US" b="1" dirty="0"/>
          </a:p>
        </p:txBody>
      </p:sp>
    </p:spTree>
    <p:extLst>
      <p:ext uri="{BB962C8B-B14F-4D97-AF65-F5344CB8AC3E}">
        <p14:creationId xmlns:p14="http://schemas.microsoft.com/office/powerpoint/2010/main" val="44026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err="1"/>
              <a:t>Ejecución</a:t>
            </a:r>
            <a:r>
              <a:rPr lang="en-US" b="1" dirty="0"/>
              <a:t> de la </a:t>
            </a:r>
            <a:r>
              <a:rPr lang="en-US" b="1" dirty="0" err="1"/>
              <a:t>Fumigación</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5786" y="2211100"/>
            <a:ext cx="5624428" cy="3162823"/>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simulación se encuentra activa ejecutando el modelo de distribución de aspersión bajo los efectos dinámicos del viento. Los drones recorren el terreno de manera autónoma calculando la cobertura del campo en tiempo real, mientras el panel lateral actualiza dinámicamente métricas como el tiempo de vuelo y el porcentaje de área fumigada. </a:t>
            </a:r>
            <a:endParaRPr lang="en-US" b="1" dirty="0"/>
          </a:p>
        </p:txBody>
      </p:sp>
    </p:spTree>
    <p:extLst>
      <p:ext uri="{BB962C8B-B14F-4D97-AF65-F5344CB8AC3E}">
        <p14:creationId xmlns:p14="http://schemas.microsoft.com/office/powerpoint/2010/main" val="1523571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Persistencia del </a:t>
            </a:r>
            <a:r>
              <a:rPr lang="es-MX" b="1" dirty="0" err="1"/>
              <a:t>Dataset</a:t>
            </a:r>
            <a:r>
              <a:rPr lang="es-MX" b="1" dirty="0"/>
              <a:t> </a:t>
            </a:r>
            <a:r>
              <a:rPr lang="es-MX" b="1" dirty="0" err="1"/>
              <a:t>AgroFly</a:t>
            </a:r>
            <a:r>
              <a:rPr lang="es-MX" b="1" dirty="0"/>
              <a:t> en PostgreSQL</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0726" y="2211100"/>
            <a:ext cx="5574548" cy="3162823"/>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308324"/>
          </a:xfrm>
          <a:prstGeom prst="rect">
            <a:avLst/>
          </a:prstGeom>
          <a:noFill/>
        </p:spPr>
        <p:txBody>
          <a:bodyPr wrap="square">
            <a:spAutoFit/>
          </a:bodyPr>
          <a:lstStyle/>
          <a:p>
            <a:pPr algn="just"/>
            <a:r>
              <a:rPr lang="es-MX" b="1" dirty="0"/>
              <a:t>Al concluir la misión de fumigación, el software automatiza el almacenamiento de los resultados mediante una conexión JDBC hacia la base de datos relacional. En la herramienta </a:t>
            </a:r>
            <a:r>
              <a:rPr lang="es-MX" b="1" dirty="0" err="1"/>
              <a:t>pgAdmin</a:t>
            </a:r>
            <a:r>
              <a:rPr lang="es-MX" b="1" dirty="0"/>
              <a:t> se verifica la tabla de reportes, la cual almacena un </a:t>
            </a:r>
            <a:r>
              <a:rPr lang="es-MX" b="1" dirty="0" err="1"/>
              <a:t>dataset</a:t>
            </a:r>
            <a:r>
              <a:rPr lang="es-MX" b="1" dirty="0"/>
              <a:t> estructurado con parámetros clave como la superficie tratada, velocidad del viento, porcentaje de cobertura y el tiempo total de vuelo. </a:t>
            </a:r>
            <a:endParaRPr lang="en-US" b="1" dirty="0"/>
          </a:p>
        </p:txBody>
      </p:sp>
    </p:spTree>
    <p:extLst>
      <p:ext uri="{BB962C8B-B14F-4D97-AF65-F5344CB8AC3E}">
        <p14:creationId xmlns:p14="http://schemas.microsoft.com/office/powerpoint/2010/main" val="1084889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523240" y="2356485"/>
            <a:ext cx="10774680" cy="1514475"/>
          </a:xfrm>
        </p:spPr>
        <p:txBody>
          <a:bodyPr>
            <a:normAutofit fontScale="90000"/>
          </a:bodyPr>
          <a:lstStyle/>
          <a:p>
            <a:pPr algn="ctr"/>
            <a:r>
              <a:rPr lang="en-US" sz="6000" b="1" dirty="0"/>
              <a:t>IntelliJ:</a:t>
            </a:r>
            <a:br>
              <a:rPr lang="en-US" sz="6000" b="1" dirty="0"/>
            </a:br>
            <a:r>
              <a:rPr lang="en-US" sz="6000" b="1" dirty="0" err="1"/>
              <a:t>TrafficSmartSimulator</a:t>
            </a:r>
            <a:endParaRPr lang="en-US" sz="6000" b="1" dirty="0"/>
          </a:p>
        </p:txBody>
      </p:sp>
    </p:spTree>
    <p:extLst>
      <p:ext uri="{BB962C8B-B14F-4D97-AF65-F5344CB8AC3E}">
        <p14:creationId xmlns:p14="http://schemas.microsoft.com/office/powerpoint/2010/main" val="3192196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Estado </a:t>
            </a:r>
            <a:r>
              <a:rPr lang="en-US" b="1" dirty="0" err="1"/>
              <a:t>Inicial</a:t>
            </a:r>
            <a:r>
              <a:rPr lang="en-US" b="1" dirty="0"/>
              <a:t> del </a:t>
            </a:r>
            <a:r>
              <a:rPr lang="en-US" b="1" dirty="0" err="1"/>
              <a:t>Simulador</a:t>
            </a:r>
            <a:r>
              <a:rPr lang="en-US" b="1" dirty="0"/>
              <a:t> </a:t>
            </a:r>
            <a:r>
              <a:rPr lang="en-US" b="1" dirty="0" err="1"/>
              <a:t>SmartTraffic</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0726" y="2224670"/>
            <a:ext cx="5574548" cy="3135682"/>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interfaz gráfica se encuentra inicializada y en espera de los parámetros de configuración para el cruce urbano inteligente. En esta fase previa, el sistema permite definir los modos de semaforización y los tiempos en verde por vía, estructurando los valores base antes de habilitar el flujo de vehículos en el simulador.</a:t>
            </a:r>
            <a:endParaRPr lang="en-US" b="1" dirty="0"/>
          </a:p>
        </p:txBody>
      </p:sp>
    </p:spTree>
    <p:extLst>
      <p:ext uri="{BB962C8B-B14F-4D97-AF65-F5344CB8AC3E}">
        <p14:creationId xmlns:p14="http://schemas.microsoft.com/office/powerpoint/2010/main" val="496790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Ejecución de la Simulación de Tráfico</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0726" y="2225124"/>
            <a:ext cx="5574548" cy="3134774"/>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1754326"/>
          </a:xfrm>
          <a:prstGeom prst="rect">
            <a:avLst/>
          </a:prstGeom>
          <a:noFill/>
        </p:spPr>
        <p:txBody>
          <a:bodyPr wrap="square">
            <a:spAutoFit/>
          </a:bodyPr>
          <a:lstStyle/>
          <a:p>
            <a:pPr algn="just"/>
            <a:r>
              <a:rPr lang="es-MX" b="1" dirty="0"/>
              <a:t>La simulación se encuentra corriendo en tiempo real modelando el comportamiento vehicular y la priorización de unidades de emergencia. El sistema procesa dinámicamente las métricas de tráfico, la congestión en el cruce y el flujo de automóviles a través del componente central de renderizado. </a:t>
            </a:r>
            <a:endParaRPr lang="en-US" b="1" dirty="0"/>
          </a:p>
        </p:txBody>
      </p:sp>
    </p:spTree>
    <p:extLst>
      <p:ext uri="{BB962C8B-B14F-4D97-AF65-F5344CB8AC3E}">
        <p14:creationId xmlns:p14="http://schemas.microsoft.com/office/powerpoint/2010/main" val="1668380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Persistencia del </a:t>
            </a:r>
            <a:r>
              <a:rPr lang="es-MX" b="1" dirty="0" err="1"/>
              <a:t>Dataset</a:t>
            </a:r>
            <a:r>
              <a:rPr lang="es-MX" b="1" dirty="0"/>
              <a:t> de Tráfico en PostgreSQL</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0726" y="2225124"/>
            <a:ext cx="5574548" cy="3134774"/>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308324"/>
          </a:xfrm>
          <a:prstGeom prst="rect">
            <a:avLst/>
          </a:prstGeom>
          <a:noFill/>
        </p:spPr>
        <p:txBody>
          <a:bodyPr wrap="square">
            <a:spAutoFit/>
          </a:bodyPr>
          <a:lstStyle/>
          <a:p>
            <a:pPr algn="just"/>
            <a:r>
              <a:rPr lang="es-MX" b="1" dirty="0"/>
              <a:t>Al finalizar la ejecución del escenario vial, el software realiza un volcado automático de los datos a través de JDBC hacia la base de datos relacional. En la herramienta </a:t>
            </a:r>
            <a:r>
              <a:rPr lang="es-MX" b="1" dirty="0" err="1"/>
              <a:t>pgAdmin</a:t>
            </a:r>
            <a:r>
              <a:rPr lang="es-MX" b="1" dirty="0"/>
              <a:t> se visualiza el registro histórico estructurado en tablas, permitiendo consultar métricas clave como el modo de semáforo utilizado, vehículos procesados y tiempos promedio de espera. </a:t>
            </a:r>
            <a:endParaRPr lang="en-US" b="1" dirty="0"/>
          </a:p>
        </p:txBody>
      </p:sp>
    </p:spTree>
    <p:extLst>
      <p:ext uri="{BB962C8B-B14F-4D97-AF65-F5344CB8AC3E}">
        <p14:creationId xmlns:p14="http://schemas.microsoft.com/office/powerpoint/2010/main" val="3027220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523240" y="2356485"/>
            <a:ext cx="10774680" cy="1514475"/>
          </a:xfrm>
        </p:spPr>
        <p:txBody>
          <a:bodyPr>
            <a:normAutofit fontScale="90000"/>
          </a:bodyPr>
          <a:lstStyle/>
          <a:p>
            <a:pPr algn="ctr"/>
            <a:r>
              <a:rPr lang="en-US" sz="6000" b="1" dirty="0"/>
              <a:t>Visual Studio Code: Phyton:</a:t>
            </a:r>
            <a:br>
              <a:rPr lang="en-US" sz="6000" b="1" dirty="0"/>
            </a:br>
            <a:r>
              <a:rPr lang="en-US" sz="6000" b="1" dirty="0" err="1"/>
              <a:t>FastLogisticsSim</a:t>
            </a:r>
            <a:endParaRPr lang="en-US" sz="6000" b="1" dirty="0"/>
          </a:p>
        </p:txBody>
      </p:sp>
    </p:spTree>
    <p:extLst>
      <p:ext uri="{BB962C8B-B14F-4D97-AF65-F5344CB8AC3E}">
        <p14:creationId xmlns:p14="http://schemas.microsoft.com/office/powerpoint/2010/main" val="733451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Estado </a:t>
            </a:r>
            <a:r>
              <a:rPr lang="en-US" b="1" dirty="0" err="1"/>
              <a:t>Inicial</a:t>
            </a:r>
            <a:r>
              <a:rPr lang="en-US" b="1" dirty="0"/>
              <a:t> del </a:t>
            </a:r>
            <a:r>
              <a:rPr lang="en-US" b="1" dirty="0" err="1"/>
              <a:t>Simulador</a:t>
            </a:r>
            <a:r>
              <a:rPr lang="en-US" b="1" dirty="0"/>
              <a:t> </a:t>
            </a:r>
            <a:r>
              <a:rPr lang="en-US" b="1" dirty="0" err="1"/>
              <a:t>FastLogistics</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0726" y="2225124"/>
            <a:ext cx="5574547" cy="3134774"/>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interfaz gráfica del sistema en Python se encuentra inicializada bajo el entorno de Visual Studio </a:t>
            </a:r>
            <a:r>
              <a:rPr lang="es-MX" b="1" dirty="0" err="1"/>
              <a:t>Code</a:t>
            </a:r>
            <a:r>
              <a:rPr lang="es-MX" b="1" dirty="0"/>
              <a:t>. En esta fase previa, el programa establece los parámetros del panel de control para la flota, mostrando en el registro de eventos la carga exitosa de los registros históricos de la base de datos. </a:t>
            </a:r>
            <a:endParaRPr lang="en-US" b="1" dirty="0"/>
          </a:p>
        </p:txBody>
      </p:sp>
    </p:spTree>
    <p:extLst>
      <p:ext uri="{BB962C8B-B14F-4D97-AF65-F5344CB8AC3E}">
        <p14:creationId xmlns:p14="http://schemas.microsoft.com/office/powerpoint/2010/main" val="1666893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Ejecución de la Simulación de Flota</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0726" y="2227391"/>
            <a:ext cx="5574548" cy="3130239"/>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simulación se encuentra corriendo en tiempo real tras la activación del monitoreo de vehículos. El sistema procesa de manera estocástica el despacho de unidades desde el almacén central hacia las diferentes rutas de entrega, actualizando dinámicamente las métricas de paquetes entregados y el progreso global de la misión. </a:t>
            </a:r>
            <a:endParaRPr lang="en-US" b="1" dirty="0"/>
          </a:p>
        </p:txBody>
      </p:sp>
    </p:spTree>
    <p:extLst>
      <p:ext uri="{BB962C8B-B14F-4D97-AF65-F5344CB8AC3E}">
        <p14:creationId xmlns:p14="http://schemas.microsoft.com/office/powerpoint/2010/main" val="2253718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Persistencia del </a:t>
            </a:r>
            <a:r>
              <a:rPr lang="es-MX" b="1" dirty="0" err="1"/>
              <a:t>Dataset</a:t>
            </a:r>
            <a:r>
              <a:rPr lang="es-MX" b="1" dirty="0"/>
              <a:t> de Entregas en PostgreSQL</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0726" y="2227391"/>
            <a:ext cx="5574548" cy="3130239"/>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308324"/>
          </a:xfrm>
          <a:prstGeom prst="rect">
            <a:avLst/>
          </a:prstGeom>
          <a:noFill/>
        </p:spPr>
        <p:txBody>
          <a:bodyPr wrap="square">
            <a:spAutoFit/>
          </a:bodyPr>
          <a:lstStyle/>
          <a:p>
            <a:pPr algn="just"/>
            <a:r>
              <a:rPr lang="es-MX" b="1" dirty="0"/>
              <a:t>Mediante la integración de los scripts de Python con la base de datos relacional, el sistema almacena de forma estructurada los registros de cada operación. En la interfaz de </a:t>
            </a:r>
            <a:r>
              <a:rPr lang="es-MX" b="1" dirty="0" err="1"/>
              <a:t>pgAdmin</a:t>
            </a:r>
            <a:r>
              <a:rPr lang="es-MX" b="1" dirty="0"/>
              <a:t> se visualiza la tabla de entregas, permitiendo verificar los datos correspondientes a los clientes, la ubicación de los paquetes, las coordenadas de destino y el estado actual de los envíos. </a:t>
            </a:r>
            <a:endParaRPr lang="en-US" b="1" dirty="0"/>
          </a:p>
        </p:txBody>
      </p:sp>
    </p:spTree>
    <p:extLst>
      <p:ext uri="{BB962C8B-B14F-4D97-AF65-F5344CB8AC3E}">
        <p14:creationId xmlns:p14="http://schemas.microsoft.com/office/powerpoint/2010/main" val="3249188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523240" y="2356485"/>
            <a:ext cx="10774680" cy="1514475"/>
          </a:xfrm>
        </p:spPr>
        <p:txBody>
          <a:bodyPr>
            <a:normAutofit fontScale="90000"/>
          </a:bodyPr>
          <a:lstStyle/>
          <a:p>
            <a:pPr algn="ctr"/>
            <a:r>
              <a:rPr lang="en-US" sz="6000" b="1" dirty="0"/>
              <a:t>Visual Studio Code: Phyton:</a:t>
            </a:r>
            <a:br>
              <a:rPr lang="en-US" sz="6000" b="1" dirty="0"/>
            </a:br>
            <a:r>
              <a:rPr lang="en-US" sz="6000" b="1" dirty="0" err="1"/>
              <a:t>EpidemiaSim_SEIR</a:t>
            </a:r>
            <a:endParaRPr lang="en-US" sz="6000" b="1" dirty="0"/>
          </a:p>
        </p:txBody>
      </p:sp>
    </p:spTree>
    <p:extLst>
      <p:ext uri="{BB962C8B-B14F-4D97-AF65-F5344CB8AC3E}">
        <p14:creationId xmlns:p14="http://schemas.microsoft.com/office/powerpoint/2010/main" val="3303296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Estado </a:t>
            </a:r>
            <a:r>
              <a:rPr lang="en-US" b="1" dirty="0" err="1"/>
              <a:t>Inicial</a:t>
            </a:r>
            <a:r>
              <a:rPr lang="en-US" b="1" dirty="0"/>
              <a:t> del </a:t>
            </a:r>
            <a:r>
              <a:rPr lang="en-US" b="1" dirty="0" err="1"/>
              <a:t>Simulador</a:t>
            </a:r>
            <a:r>
              <a:rPr lang="en-US" b="1" dirty="0"/>
              <a:t> SEIR </a:t>
            </a:r>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4759" y="2227391"/>
            <a:ext cx="5566482" cy="3130239"/>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interfaz gráfica del modelo epidemiológico se encuentra inicializada y en espera de los parámetros de propagación viral. En esta fase previa, el sistema permite configurar la probabilidad de contagio, el distanciamiento social y la capacidad hospitalaria, mostrando a la población distribuida en el área de simulación.</a:t>
            </a:r>
            <a:endParaRPr lang="en-US" b="1" dirty="0"/>
          </a:p>
        </p:txBody>
      </p:sp>
    </p:spTree>
    <p:extLst>
      <p:ext uri="{BB962C8B-B14F-4D97-AF65-F5344CB8AC3E}">
        <p14:creationId xmlns:p14="http://schemas.microsoft.com/office/powerpoint/2010/main" val="4099792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err="1"/>
              <a:t>Ejecución</a:t>
            </a:r>
            <a:r>
              <a:rPr lang="en-US" b="1" dirty="0"/>
              <a:t> del </a:t>
            </a:r>
            <a:r>
              <a:rPr lang="en-US" b="1" dirty="0" err="1"/>
              <a:t>Modelo</a:t>
            </a:r>
            <a:r>
              <a:rPr lang="en-US" b="1" dirty="0"/>
              <a:t> </a:t>
            </a:r>
            <a:r>
              <a:rPr lang="en-US" b="1" dirty="0" err="1"/>
              <a:t>Epidemiológico</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73470" y="2227391"/>
            <a:ext cx="5549060" cy="3130239"/>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simulación se encuentra corriendo en tiempo real bajo el modelo estocástico de propagación SEIR. El sistema calcula las interacciones entre agentes susceptibles, infectados e inmunes, graficando de forma dinámica la curva epidemiológica y el comportamiento del sistema sanitario en relación con el límite hospitalario.</a:t>
            </a:r>
            <a:endParaRPr lang="en-US" b="1" dirty="0"/>
          </a:p>
        </p:txBody>
      </p:sp>
    </p:spTree>
    <p:extLst>
      <p:ext uri="{BB962C8B-B14F-4D97-AF65-F5344CB8AC3E}">
        <p14:creationId xmlns:p14="http://schemas.microsoft.com/office/powerpoint/2010/main" val="3168872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Persistencia del </a:t>
            </a:r>
            <a:r>
              <a:rPr lang="es-MX" b="1" dirty="0" err="1"/>
              <a:t>Dataset</a:t>
            </a:r>
            <a:r>
              <a:rPr lang="es-MX" b="1" dirty="0"/>
              <a:t> Epidemiológico en PostgreSQL</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8283" y="2227391"/>
            <a:ext cx="5559434" cy="3130239"/>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308324"/>
          </a:xfrm>
          <a:prstGeom prst="rect">
            <a:avLst/>
          </a:prstGeom>
          <a:noFill/>
        </p:spPr>
        <p:txBody>
          <a:bodyPr wrap="square">
            <a:spAutoFit/>
          </a:bodyPr>
          <a:lstStyle/>
          <a:p>
            <a:pPr algn="just"/>
            <a:r>
              <a:rPr lang="es-MX" b="1" dirty="0"/>
              <a:t>Una vez finalizada la simulación, el software realiza el volcado automatizado de los datos mediante una conexión relacional hacia la base de datos. En la herramienta </a:t>
            </a:r>
            <a:r>
              <a:rPr lang="es-MX" b="1" dirty="0" err="1"/>
              <a:t>pgAdmin</a:t>
            </a:r>
            <a:r>
              <a:rPr lang="es-MX" b="1" dirty="0"/>
              <a:t> se verifica la tabla de reportes, la cual almacena un </a:t>
            </a:r>
            <a:r>
              <a:rPr lang="es-MX" b="1" dirty="0" err="1"/>
              <a:t>dataset</a:t>
            </a:r>
            <a:r>
              <a:rPr lang="es-MX" b="1" dirty="0"/>
              <a:t> estructurado con métricas clave como la población total, tasas de contagio, duración del brote y el pico máximo de infectados registrados.</a:t>
            </a:r>
            <a:endParaRPr lang="en-US" b="1" dirty="0"/>
          </a:p>
        </p:txBody>
      </p:sp>
    </p:spTree>
    <p:extLst>
      <p:ext uri="{BB962C8B-B14F-4D97-AF65-F5344CB8AC3E}">
        <p14:creationId xmlns:p14="http://schemas.microsoft.com/office/powerpoint/2010/main" val="3904366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523240" y="2356485"/>
            <a:ext cx="10774680" cy="1514475"/>
          </a:xfrm>
        </p:spPr>
        <p:txBody>
          <a:bodyPr>
            <a:normAutofit fontScale="90000"/>
          </a:bodyPr>
          <a:lstStyle/>
          <a:p>
            <a:pPr algn="ctr"/>
            <a:r>
              <a:rPr lang="en-US" sz="6000" b="1" dirty="0"/>
              <a:t>Visual Studio Code: Phyton:</a:t>
            </a:r>
            <a:br>
              <a:rPr lang="en-US" sz="6000" b="1" dirty="0"/>
            </a:br>
            <a:r>
              <a:rPr lang="en-US" sz="6000" b="1" dirty="0" err="1"/>
              <a:t>ClimateSim_IPCC</a:t>
            </a:r>
            <a:endParaRPr lang="en-US" sz="6000" b="1" dirty="0"/>
          </a:p>
        </p:txBody>
      </p:sp>
    </p:spTree>
    <p:extLst>
      <p:ext uri="{BB962C8B-B14F-4D97-AF65-F5344CB8AC3E}">
        <p14:creationId xmlns:p14="http://schemas.microsoft.com/office/powerpoint/2010/main" val="709787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Estado </a:t>
            </a:r>
            <a:r>
              <a:rPr lang="en-US" b="1" dirty="0" err="1"/>
              <a:t>Inicial</a:t>
            </a:r>
            <a:r>
              <a:rPr lang="en-US" b="1" dirty="0"/>
              <a:t> del </a:t>
            </a:r>
            <a:r>
              <a:rPr lang="en-US" b="1" dirty="0" err="1"/>
              <a:t>Simulador</a:t>
            </a:r>
            <a:r>
              <a:rPr lang="en-US" b="1" dirty="0"/>
              <a:t> </a:t>
            </a:r>
            <a:r>
              <a:rPr lang="en-US" b="1" dirty="0" err="1"/>
              <a:t>Climático</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8283" y="2229373"/>
            <a:ext cx="5559434" cy="3126275"/>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1754326"/>
          </a:xfrm>
          <a:prstGeom prst="rect">
            <a:avLst/>
          </a:prstGeom>
          <a:noFill/>
        </p:spPr>
        <p:txBody>
          <a:bodyPr wrap="square">
            <a:spAutoFit/>
          </a:bodyPr>
          <a:lstStyle/>
          <a:p>
            <a:pPr algn="just"/>
            <a:r>
              <a:rPr lang="es-MX" b="1" dirty="0"/>
              <a:t>La interfaz gráfica del modelo probabilístico se encuentra inicializada bajo el entorno de Visual Studio </a:t>
            </a:r>
            <a:r>
              <a:rPr lang="es-MX" b="1" dirty="0" err="1"/>
              <a:t>Code</a:t>
            </a:r>
            <a:r>
              <a:rPr lang="es-MX" b="1" dirty="0"/>
              <a:t>. En esta fase previa, el sistema permite configurar los escenarios socioeconómicos (SSP), la sensibilidad climática y el número de muestras de Monte Carlo antes de recalcular el muestreo.</a:t>
            </a:r>
            <a:endParaRPr lang="en-US" b="1" dirty="0"/>
          </a:p>
        </p:txBody>
      </p:sp>
    </p:spTree>
    <p:extLst>
      <p:ext uri="{BB962C8B-B14F-4D97-AF65-F5344CB8AC3E}">
        <p14:creationId xmlns:p14="http://schemas.microsoft.com/office/powerpoint/2010/main" val="1395175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Ejecución de las Proyecciones Climáticas</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8283" y="2229373"/>
            <a:ext cx="5559434" cy="3126275"/>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230471" y="2623016"/>
            <a:ext cx="5181600" cy="2031325"/>
          </a:xfrm>
          <a:prstGeom prst="rect">
            <a:avLst/>
          </a:prstGeom>
          <a:noFill/>
        </p:spPr>
        <p:txBody>
          <a:bodyPr wrap="square">
            <a:spAutoFit/>
          </a:bodyPr>
          <a:lstStyle/>
          <a:p>
            <a:pPr algn="just"/>
            <a:r>
              <a:rPr lang="es-MX" b="1" dirty="0"/>
              <a:t>La simulación se encuentra corriendo mediante técnicas de muestreo estocástico para proyectar el calentamiento global hacia el año 2100. El sistema procesa múltiples escenarios de emisiones, generando de forma gráfica las trayectorias de temperatura y la distribución de probabilidad asociada al riesgo climático. </a:t>
            </a:r>
            <a:endParaRPr lang="en-US" b="1" dirty="0"/>
          </a:p>
        </p:txBody>
      </p:sp>
    </p:spTree>
    <p:extLst>
      <p:ext uri="{BB962C8B-B14F-4D97-AF65-F5344CB8AC3E}">
        <p14:creationId xmlns:p14="http://schemas.microsoft.com/office/powerpoint/2010/main" val="1868803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Persistencia del </a:t>
            </a:r>
            <a:r>
              <a:rPr lang="es-MX" b="1" dirty="0" err="1"/>
              <a:t>Dataset</a:t>
            </a:r>
            <a:r>
              <a:rPr lang="es-MX" b="1" dirty="0"/>
              <a:t> Climático en PostgreSQL</a:t>
            </a:r>
            <a:endParaRPr lang="en-US" b="1" dirty="0"/>
          </a:p>
        </p:txBody>
      </p:sp>
      <p:pic>
        <p:nvPicPr>
          <p:cNvPr id="12" name="Marcador de contenido 6">
            <a:extLst>
              <a:ext uri="{FF2B5EF4-FFF2-40B4-BE49-F238E27FC236}">
                <a16:creationId xmlns:a16="http://schemas.microsoft.com/office/drawing/2014/main" id="{B42A405E-E11F-4134-A8B2-4ED42F92880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8283" y="2231634"/>
            <a:ext cx="5559434" cy="3121752"/>
          </a:xfrm>
          <a:prstGeom prst="rect">
            <a:avLst/>
          </a:prstGeom>
        </p:spPr>
      </p:pic>
      <p:sp>
        <p:nvSpPr>
          <p:cNvPr id="14" name="CuadroTexto 13">
            <a:extLst>
              <a:ext uri="{FF2B5EF4-FFF2-40B4-BE49-F238E27FC236}">
                <a16:creationId xmlns:a16="http://schemas.microsoft.com/office/drawing/2014/main" id="{0E846AD7-D0F1-47A4-85D1-B352B25D6FB2}"/>
              </a:ext>
            </a:extLst>
          </p:cNvPr>
          <p:cNvSpPr txBox="1"/>
          <p:nvPr/>
        </p:nvSpPr>
        <p:spPr>
          <a:xfrm>
            <a:off x="6364285" y="2461651"/>
            <a:ext cx="5181600" cy="2308324"/>
          </a:xfrm>
          <a:prstGeom prst="rect">
            <a:avLst/>
          </a:prstGeom>
          <a:noFill/>
        </p:spPr>
        <p:txBody>
          <a:bodyPr wrap="square">
            <a:spAutoFit/>
          </a:bodyPr>
          <a:lstStyle/>
          <a:p>
            <a:pPr algn="just"/>
            <a:r>
              <a:rPr lang="es-MX" b="1" dirty="0"/>
              <a:t>Una vez procesadas las simulaciones probabilísticas, el software ejecuta el almacenamiento automatizado de los datos hacia la base de datos relacional. En la herramienta </a:t>
            </a:r>
            <a:r>
              <a:rPr lang="es-MX" b="1" dirty="0" err="1"/>
              <a:t>pgAdmin</a:t>
            </a:r>
            <a:r>
              <a:rPr lang="es-MX" b="1" dirty="0"/>
              <a:t> se verifica la tabla de reportes climáticos, la cual almacena un </a:t>
            </a:r>
            <a:r>
              <a:rPr lang="es-MX" b="1" dirty="0" err="1"/>
              <a:t>dataset</a:t>
            </a:r>
            <a:r>
              <a:rPr lang="es-MX" b="1" dirty="0"/>
              <a:t> estructurado con parámetros como el número de muestras, escenario SSP, emisiones de CO2 y los valores de sensibilidad climática. </a:t>
            </a:r>
            <a:endParaRPr lang="en-US" b="1" dirty="0"/>
          </a:p>
        </p:txBody>
      </p:sp>
    </p:spTree>
    <p:extLst>
      <p:ext uri="{BB962C8B-B14F-4D97-AF65-F5344CB8AC3E}">
        <p14:creationId xmlns:p14="http://schemas.microsoft.com/office/powerpoint/2010/main" val="319832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CONCLUSIÓN </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20000"/>
          </a:bodyPr>
          <a:lstStyle/>
          <a:p>
            <a:pPr marL="0" indent="0" algn="just">
              <a:buNone/>
            </a:pPr>
            <a:r>
              <a:rPr lang="es-MX" dirty="0"/>
              <a:t>	La elaboración de este banco de ejercicios permitió consolidar de manera práctica los fundamentos teóricos de la simulación de sistemas, integrando algoritmos estocásticos, el Método de Monte Carlo y la generación de números pseudoaleatorios en diversas plataformas de desarrollo como Java e IntelliJ IDEA, así como Python en Visual Studio </a:t>
            </a:r>
            <a:r>
              <a:rPr lang="es-MX" dirty="0" err="1"/>
              <a:t>Code</a:t>
            </a:r>
            <a:r>
              <a:rPr lang="es-MX" dirty="0"/>
              <a:t>. A través de la implementación de interfaces gráficas dinámicas y el diseño de modelos orientados a eventos, se comprobó la versatilidad de la computación para representar fenómenos complejos del mundo real bajo condiciones de incertidumbre, abarcando desde la gestión urbana y logística hasta la propagación epidemiológica y las proyecciones climáticas. Asimismo, la automatización del flujo de datos mediante conexiones JDBC y la persistencia estructurada de los </a:t>
            </a:r>
            <a:r>
              <a:rPr lang="es-MX" dirty="0" err="1"/>
              <a:t>datasets</a:t>
            </a:r>
            <a:r>
              <a:rPr lang="es-MX" dirty="0"/>
              <a:t> en bases de datos relacionales con PostgreSQL y </a:t>
            </a:r>
            <a:r>
              <a:rPr lang="es-MX" dirty="0" err="1"/>
              <a:t>pgAdmin</a:t>
            </a:r>
            <a:r>
              <a:rPr lang="es-MX" dirty="0"/>
              <a:t> demuestran un estándar de desarrollo profesional, garantizando la trazabilidad, auditoría y análisis estadístico de los resultados obtenidos en cada ejecución experimental.</a:t>
            </a:r>
            <a:endParaRPr lang="en-US" dirty="0"/>
          </a:p>
        </p:txBody>
      </p:sp>
    </p:spTree>
    <p:extLst>
      <p:ext uri="{BB962C8B-B14F-4D97-AF65-F5344CB8AC3E}">
        <p14:creationId xmlns:p14="http://schemas.microsoft.com/office/powerpoint/2010/main" val="7324136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1609</Words>
  <Application>Microsoft Office PowerPoint</Application>
  <PresentationFormat>Panorámica</PresentationFormat>
  <Paragraphs>63</Paragraphs>
  <Slides>28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28</vt:i4>
      </vt:variant>
    </vt:vector>
  </HeadingPairs>
  <TitlesOfParts>
    <vt:vector size="32" baseType="lpstr">
      <vt:lpstr>Arial</vt:lpstr>
      <vt:lpstr>Calibri</vt:lpstr>
      <vt:lpstr>Calibri Light</vt:lpstr>
      <vt:lpstr>Tema de Office</vt:lpstr>
      <vt:lpstr>Presentación de PowerPoint</vt:lpstr>
      <vt:lpstr>INTRODUCCIÓN</vt:lpstr>
      <vt:lpstr>JUSTIFICACIÓN</vt:lpstr>
      <vt:lpstr>IntelliJ: METEORSimulator</vt:lpstr>
      <vt:lpstr>Estado Inicial del Simulador</vt:lpstr>
      <vt:lpstr>Ejecución de la Simulación</vt:lpstr>
      <vt:lpstr>Persistencia del Dataset en PostgreSQL</vt:lpstr>
      <vt:lpstr>IntelliJ: AgroFlySimulator</vt:lpstr>
      <vt:lpstr>Estado Inicial del Simulador AgroFly</vt:lpstr>
      <vt:lpstr>Ejecución de la Fumigación</vt:lpstr>
      <vt:lpstr>Persistencia del Dataset AgroFly en PostgreSQL</vt:lpstr>
      <vt:lpstr>IntelliJ: TrafficSmartSimulator</vt:lpstr>
      <vt:lpstr>Estado Inicial del Simulador SmartTraffic</vt:lpstr>
      <vt:lpstr>Ejecución de la Simulación de Tráfico</vt:lpstr>
      <vt:lpstr>Persistencia del Dataset de Tráfico en PostgreSQL</vt:lpstr>
      <vt:lpstr>Visual Studio Code: Phyton: FastLogisticsSim</vt:lpstr>
      <vt:lpstr>Estado Inicial del Simulador FastLogistics</vt:lpstr>
      <vt:lpstr>Ejecución de la Simulación de Flota</vt:lpstr>
      <vt:lpstr>Persistencia del Dataset de Entregas en PostgreSQL</vt:lpstr>
      <vt:lpstr>Visual Studio Code: Phyton: EpidemiaSim_SEIR</vt:lpstr>
      <vt:lpstr>Estado Inicial del Simulador SEIR </vt:lpstr>
      <vt:lpstr>Ejecución del Modelo Epidemiológico</vt:lpstr>
      <vt:lpstr>Persistencia del Dataset Epidemiológico en PostgreSQL</vt:lpstr>
      <vt:lpstr>Visual Studio Code: Phyton: ClimateSim_IPCC</vt:lpstr>
      <vt:lpstr>Estado Inicial del Simulador Climático</vt:lpstr>
      <vt:lpstr>Ejecución de las Proyecciones Climáticas</vt:lpstr>
      <vt:lpstr>Persistencia del Dataset Climático en PostgreSQL</vt:lpstr>
      <vt:lpstr>CONCLUSIÓN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Amilcar Corona</dc:creator>
  <cp:lastModifiedBy>Amilcar Corona</cp:lastModifiedBy>
  <cp:revision>7</cp:revision>
  <dcterms:created xsi:type="dcterms:W3CDTF">2026-10-08T08:46:48Z</dcterms:created>
  <dcterms:modified xsi:type="dcterms:W3CDTF">2026-10-08T10:22:32Z</dcterms:modified>
</cp:coreProperties>
</file>